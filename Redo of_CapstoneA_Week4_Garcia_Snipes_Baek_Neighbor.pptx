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31" r:id="rId5"/>
    <p:sldId id="333" r:id="rId6"/>
    <p:sldId id="334" r:id="rId7"/>
    <p:sldId id="335" r:id="rId8"/>
    <p:sldId id="336" r:id="rId9"/>
    <p:sldId id="337" r:id="rId10"/>
    <p:sldId id="338" r:id="rId11"/>
    <p:sldId id="3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AA0C55-F1D5-694A-82C0-4961583027BE}">
          <p14:sldIdLst>
            <p14:sldId id="331"/>
            <p14:sldId id="333"/>
            <p14:sldId id="334"/>
            <p14:sldId id="335"/>
            <p14:sldId id="336"/>
            <p14:sldId id="337"/>
            <p14:sldId id="338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A5E"/>
    <a:srgbClr val="43A1D7"/>
    <a:srgbClr val="807699"/>
    <a:srgbClr val="45627A"/>
    <a:srgbClr val="FCA7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3" autoAdjust="0"/>
    <p:restoredTop sz="93764" autoAdjust="0"/>
  </p:normalViewPr>
  <p:slideViewPr>
    <p:cSldViewPr snapToGrid="0">
      <p:cViewPr>
        <p:scale>
          <a:sx n="150" d="100"/>
          <a:sy n="150" d="100"/>
        </p:scale>
        <p:origin x="3006" y="96"/>
      </p:cViewPr>
      <p:guideLst>
        <p:guide orient="horz" pos="57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179" y="77"/>
      </p:cViewPr>
      <p:guideLst/>
    </p:cSldViewPr>
  </p:notes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61B5B0-0F3F-4574-AC4A-4D715ADD47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0A1CE-6ACE-4ED5-A8B3-171E652972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F9B17-A37A-42C9-8030-9CDA9FD7470F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8E9B5-B968-4629-B4B4-F2F9B488BA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B0D94-2D20-439D-B7D0-A1C2405FFD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0B9B7-785A-4976-B902-CA7EFE182F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48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79487-3076-4D15-80FF-6284DC1263E4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A5702-C22C-4453-948F-F1BC33F66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7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F96D-4AEC-26A5-A86C-DFD3AC16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2374F-00A7-3D8C-74AA-0F70B56F3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75CD5-F9BF-FDF3-2400-B24583055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BDE5F-9DBF-2333-BE43-81B609EFE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A5702-C22C-4453-948F-F1BC33F661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5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3F22FE9-D68A-4834-9BF7-BFB0585106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5" y="-1"/>
            <a:ext cx="12190475" cy="6872401"/>
          </a:xfrm>
          <a:custGeom>
            <a:avLst/>
            <a:gdLst>
              <a:gd name="connsiteX0" fmla="*/ 0 w 12190475"/>
              <a:gd name="connsiteY0" fmla="*/ 1 h 6872401"/>
              <a:gd name="connsiteX1" fmla="*/ 882143 w 12190475"/>
              <a:gd name="connsiteY1" fmla="*/ 1 h 6872401"/>
              <a:gd name="connsiteX2" fmla="*/ 882143 w 12190475"/>
              <a:gd name="connsiteY2" fmla="*/ 6858001 h 6872401"/>
              <a:gd name="connsiteX3" fmla="*/ 0 w 12190475"/>
              <a:gd name="connsiteY3" fmla="*/ 6858001 h 6872401"/>
              <a:gd name="connsiteX4" fmla="*/ 914779 w 12190475"/>
              <a:gd name="connsiteY4" fmla="*/ 0 h 6872401"/>
              <a:gd name="connsiteX5" fmla="*/ 12187424 w 12190475"/>
              <a:gd name="connsiteY5" fmla="*/ 0 h 6872401"/>
              <a:gd name="connsiteX6" fmla="*/ 12187424 w 12190475"/>
              <a:gd name="connsiteY6" fmla="*/ 4333876 h 6872401"/>
              <a:gd name="connsiteX7" fmla="*/ 12190475 w 12190475"/>
              <a:gd name="connsiteY7" fmla="*/ 4333876 h 6872401"/>
              <a:gd name="connsiteX8" fmla="*/ 12190475 w 12190475"/>
              <a:gd name="connsiteY8" fmla="*/ 4796346 h 6872401"/>
              <a:gd name="connsiteX9" fmla="*/ 12190475 w 12190475"/>
              <a:gd name="connsiteY9" fmla="*/ 5648326 h 6872401"/>
              <a:gd name="connsiteX10" fmla="*/ 12190475 w 12190475"/>
              <a:gd name="connsiteY10" fmla="*/ 6872401 h 6872401"/>
              <a:gd name="connsiteX11" fmla="*/ 908622 w 12190475"/>
              <a:gd name="connsiteY11" fmla="*/ 6872401 h 6872401"/>
              <a:gd name="connsiteX12" fmla="*/ 908622 w 12190475"/>
              <a:gd name="connsiteY12" fmla="*/ 4796346 h 6872401"/>
              <a:gd name="connsiteX13" fmla="*/ 4530441 w 12190475"/>
              <a:gd name="connsiteY13" fmla="*/ 4796346 h 6872401"/>
              <a:gd name="connsiteX14" fmla="*/ 4530441 w 12190475"/>
              <a:gd name="connsiteY14" fmla="*/ 4772181 h 6872401"/>
              <a:gd name="connsiteX15" fmla="*/ 914779 w 12190475"/>
              <a:gd name="connsiteY15" fmla="*/ 4772181 h 687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0475" h="6872401">
                <a:moveTo>
                  <a:pt x="0" y="1"/>
                </a:moveTo>
                <a:lnTo>
                  <a:pt x="882143" y="1"/>
                </a:lnTo>
                <a:lnTo>
                  <a:pt x="882143" y="6858001"/>
                </a:lnTo>
                <a:lnTo>
                  <a:pt x="0" y="6858001"/>
                </a:lnTo>
                <a:close/>
                <a:moveTo>
                  <a:pt x="914779" y="0"/>
                </a:moveTo>
                <a:lnTo>
                  <a:pt x="12187424" y="0"/>
                </a:lnTo>
                <a:lnTo>
                  <a:pt x="12187424" y="4333876"/>
                </a:lnTo>
                <a:lnTo>
                  <a:pt x="12190475" y="4333876"/>
                </a:lnTo>
                <a:lnTo>
                  <a:pt x="12190475" y="4796346"/>
                </a:lnTo>
                <a:lnTo>
                  <a:pt x="12190475" y="5648326"/>
                </a:lnTo>
                <a:lnTo>
                  <a:pt x="12190475" y="6872401"/>
                </a:lnTo>
                <a:lnTo>
                  <a:pt x="908622" y="6872401"/>
                </a:lnTo>
                <a:lnTo>
                  <a:pt x="908622" y="4796346"/>
                </a:lnTo>
                <a:lnTo>
                  <a:pt x="4530441" y="4796346"/>
                </a:lnTo>
                <a:lnTo>
                  <a:pt x="4530441" y="4772181"/>
                </a:lnTo>
                <a:lnTo>
                  <a:pt x="914779" y="47721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Subtitle 7">
            <a:extLst>
              <a:ext uri="{FF2B5EF4-FFF2-40B4-BE49-F238E27FC236}">
                <a16:creationId xmlns:a16="http://schemas.microsoft.com/office/drawing/2014/main" id="{A21E13D9-32A0-414B-8811-425CE64DB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159" y="4787654"/>
            <a:ext cx="3611662" cy="2070345"/>
          </a:xfrm>
          <a:solidFill>
            <a:schemeClr val="tx1">
              <a:alpha val="40000"/>
            </a:schemeClr>
          </a:solidFill>
        </p:spPr>
        <p:txBody>
          <a:bodyPr tIns="365760">
            <a:normAutofit/>
          </a:bodyPr>
          <a:lstStyle>
            <a:lvl1pPr marL="365760">
              <a:defRPr sz="2000">
                <a:solidFill>
                  <a:schemeClr val="bg2">
                    <a:alpha val="56000"/>
                  </a:schemeClr>
                </a:solidFill>
              </a:defRPr>
            </a:lvl1pPr>
          </a:lstStyle>
          <a:p>
            <a:pPr>
              <a:lnSpc>
                <a:spcPct val="120000"/>
              </a:lnSpc>
            </a:pPr>
            <a:endParaRPr lang="en-US" sz="2000" dirty="0">
              <a:solidFill>
                <a:schemeClr val="bg2">
                  <a:alpha val="56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879B96-0338-4E65-BB51-C23BF0605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99" y="4787656"/>
            <a:ext cx="36116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AA0935-460F-4638-9E37-D59F2DEC0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00000" y="0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5CD497-6186-406A-B1EF-7A2024CA8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86" y="4780453"/>
            <a:ext cx="361167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904603-E089-46F5-87D5-E0983BAD9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9987" y="-7203"/>
            <a:ext cx="0" cy="685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1EA1E-0217-800F-5643-22012DF0554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EF1B7-3865-BE2D-FCBA-26D1D95D44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ACB3A-1C20-51AF-D2C3-BF72B858BA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3F9D384-533B-4C4E-B660-F861AA07D173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5A72-B4B0-B2BF-E641-A2F55E52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DEE0F-08C1-78C4-7915-83FB8E9C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63693-FD5C-9448-FFE1-02728340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8F3EB-3E17-EF96-38C7-264BD73C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/>
              <a:pPr/>
              <a:t>‹#›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387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86052-6759-46BD-9531-D65FD955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800" y="327600"/>
            <a:ext cx="10407600" cy="11412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3C3A5-7533-48B0-9C15-F0165676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2800" y="2059200"/>
            <a:ext cx="10407600" cy="435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35256E-21FA-473A-8EAF-34CE9AD37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936000" y="1378800"/>
            <a:ext cx="2772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9857-D06D-4AFF-8777-07EF0A15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810000" y="4240800"/>
            <a:ext cx="2520000" cy="900000"/>
          </a:xfrm>
          <a:prstGeom prst="rect">
            <a:avLst/>
          </a:prstGeom>
        </p:spPr>
        <p:txBody>
          <a:bodyPr lIns="0" tIns="72000" rIns="0" bIns="72000" anchor="ctr" anchorCtr="0"/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72703B-0DDF-46CE-AC34-623357994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6980" y="6415199"/>
            <a:ext cx="465020" cy="4428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2400" b="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fld id="{63F9D384-533B-4C4E-B660-F861AA07D173}" type="slidenum">
              <a:rPr lang="en-US" smtClean="0"/>
              <a:pPr/>
              <a:t>‹#›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618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2"/>
          </a:solidFill>
          <a:latin typeface="+mj-lt"/>
          <a:ea typeface="Microsoft Sans Serif" panose="020B0604020202020204" pitchFamily="34" charset="0"/>
          <a:cs typeface="Microsoft Sans Serif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1pPr>
      <a:lvl2pPr marL="3600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20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2pPr>
      <a:lvl3pPr marL="8550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3pPr>
      <a:lvl4pPr marL="13122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4pPr>
      <a:lvl5pPr marL="1769400" indent="0" algn="l" defTabSz="914400" rtl="0" eaLnBrk="1" latinLnBrk="0" hangingPunct="1">
        <a:lnSpc>
          <a:spcPct val="120000"/>
        </a:lnSpc>
        <a:spcBef>
          <a:spcPts val="800"/>
        </a:spcBef>
        <a:buSzPct val="70000"/>
        <a:buFont typeface="Wingdings 2" panose="05020102010507070707" pitchFamily="18" charset="2"/>
        <a:buNone/>
        <a:defRPr sz="1600" kern="1200">
          <a:solidFill>
            <a:schemeClr val="tx2">
              <a:alpha val="77000"/>
            </a:schemeClr>
          </a:solidFill>
          <a:latin typeface="+mn-lt"/>
          <a:ea typeface="Microsoft Sans Serif" panose="020B0604020202020204" pitchFamily="34" charset="0"/>
          <a:cs typeface="Microsoft Sans Serif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vVgVnjK8H0?start=107&amp;feature=oembed" TargetMode="Externa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svg"/><Relationship Id="rId7" Type="http://schemas.openxmlformats.org/officeDocument/2006/relationships/image" Target="../media/image4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9034-75B2-AAB2-63F0-4285ACE4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177179-C536-2C34-C973-601F9B8AEB95}"/>
              </a:ext>
            </a:extLst>
          </p:cNvPr>
          <p:cNvCxnSpPr>
            <a:cxnSpLocks/>
          </p:cNvCxnSpPr>
          <p:nvPr/>
        </p:nvCxnSpPr>
        <p:spPr>
          <a:xfrm>
            <a:off x="-2400" y="1092530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731112A-EFE6-D2C7-E711-3FB2D80A7A83}"/>
              </a:ext>
            </a:extLst>
          </p:cNvPr>
          <p:cNvSpPr txBox="1"/>
          <p:nvPr/>
        </p:nvSpPr>
        <p:spPr>
          <a:xfrm>
            <a:off x="2400" y="1"/>
            <a:ext cx="121872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3200" b="1" dirty="0"/>
              <a:t>Predicting Motorcycle Injury Severity Using Southern California Crash Data</a:t>
            </a:r>
            <a:endParaRPr lang="en-US" sz="3200" dirty="0"/>
          </a:p>
        </p:txBody>
      </p:sp>
      <p:pic>
        <p:nvPicPr>
          <p:cNvPr id="34" name="Picture 33" descr="A person on a motorcycle&#10;&#10;AI-generated content may be incorrect.">
            <a:extLst>
              <a:ext uri="{FF2B5EF4-FFF2-40B4-BE49-F238E27FC236}">
                <a16:creationId xmlns:a16="http://schemas.microsoft.com/office/drawing/2014/main" id="{B12F02CB-F031-40F6-2A33-04DD89DE9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39" y="1245592"/>
            <a:ext cx="7772400" cy="53441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5ED0F98-60AF-828F-9B72-E24A7060A45F}"/>
              </a:ext>
            </a:extLst>
          </p:cNvPr>
          <p:cNvSpPr txBox="1"/>
          <p:nvPr/>
        </p:nvSpPr>
        <p:spPr>
          <a:xfrm>
            <a:off x="-2401" y="4168502"/>
            <a:ext cx="4278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/>
              <a:t>Presenters: Ed Baek, Amber Garcia, Ryan Neighbor, Jeremiah Snipes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8803A0-1D38-A20D-F427-46DCF574DBC4}"/>
              </a:ext>
            </a:extLst>
          </p:cNvPr>
          <p:cNvSpPr txBox="1"/>
          <p:nvPr/>
        </p:nvSpPr>
        <p:spPr>
          <a:xfrm>
            <a:off x="-2401" y="2089297"/>
            <a:ext cx="42781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>
                <a:solidFill>
                  <a:schemeClr val="dk1"/>
                </a:solidFill>
              </a:rPr>
              <a:t>National University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>
                <a:solidFill>
                  <a:schemeClr val="dk1"/>
                </a:solidFill>
              </a:rPr>
              <a:t>Department of Technology &amp; Engineering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>
                <a:solidFill>
                  <a:schemeClr val="dk1"/>
                </a:solidFill>
              </a:rPr>
              <a:t>ANA699A Capstone Project I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>
                <a:solidFill>
                  <a:schemeClr val="dk1"/>
                </a:solidFill>
              </a:rPr>
              <a:t>January </a:t>
            </a:r>
            <a:r>
              <a:rPr lang="en-US" dirty="0">
                <a:solidFill>
                  <a:schemeClr val="dk1"/>
                </a:solidFill>
              </a:rPr>
              <a:t>27</a:t>
            </a:r>
            <a:r>
              <a:rPr lang="en-US" sz="1800" dirty="0">
                <a:solidFill>
                  <a:schemeClr val="dk1"/>
                </a:solidFill>
              </a:rPr>
              <a:t>, 2026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dirty="0">
                <a:solidFill>
                  <a:schemeClr val="dk1"/>
                </a:solidFill>
              </a:rPr>
              <a:t>Dr. Mario Missakian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DF84E1-0E68-F80C-B73A-B08F60B11D38}"/>
              </a:ext>
            </a:extLst>
          </p:cNvPr>
          <p:cNvSpPr txBox="1"/>
          <p:nvPr/>
        </p:nvSpPr>
        <p:spPr>
          <a:xfrm>
            <a:off x="6958349" y="6567156"/>
            <a:ext cx="2407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(Project 65 Studios, 2024)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155436-DB67-BE62-8367-BD3AEE99B471}"/>
              </a:ext>
            </a:extLst>
          </p:cNvPr>
          <p:cNvSpPr txBox="1">
            <a:spLocks/>
          </p:cNvSpPr>
          <p:nvPr/>
        </p:nvSpPr>
        <p:spPr>
          <a:xfrm>
            <a:off x="11943644" y="6545022"/>
            <a:ext cx="349956" cy="349956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3600" b="0" kern="1200">
                <a:ln w="6350">
                  <a:solidFill>
                    <a:schemeClr val="tx2">
                      <a:alpha val="80000"/>
                    </a:schemeClr>
                  </a:solidFill>
                </a:ln>
                <a:noFill/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CAC790F-AD20-4AB3-D44A-7BFB4775A0A7}"/>
              </a:ext>
            </a:extLst>
          </p:cNvPr>
          <p:cNvSpPr txBox="1"/>
          <p:nvPr/>
        </p:nvSpPr>
        <p:spPr>
          <a:xfrm>
            <a:off x="1235720" y="85061"/>
            <a:ext cx="9718160" cy="1541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ct val="41250"/>
            </a:pPr>
            <a:r>
              <a:rPr lang="en-US" sz="2800" dirty="0"/>
              <a:t>This proposal is organized from research questions and prior literature through data sources, modeling, evaluation and validation, and limitations and conclusion.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C94031C-B676-419F-ED47-18C795CF022A}"/>
              </a:ext>
            </a:extLst>
          </p:cNvPr>
          <p:cNvCxnSpPr>
            <a:cxnSpLocks/>
          </p:cNvCxnSpPr>
          <p:nvPr/>
        </p:nvCxnSpPr>
        <p:spPr>
          <a:xfrm>
            <a:off x="-13033" y="1656062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A9ABC9-0236-F339-4CBF-F5EBE3917FD7}"/>
              </a:ext>
            </a:extLst>
          </p:cNvPr>
          <p:cNvGrpSpPr/>
          <p:nvPr/>
        </p:nvGrpSpPr>
        <p:grpSpPr>
          <a:xfrm>
            <a:off x="256067" y="2230347"/>
            <a:ext cx="3359753" cy="1078249"/>
            <a:chOff x="297846" y="3429000"/>
            <a:chExt cx="3359753" cy="1078249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61FF16C-50BF-D824-5CCD-210DD94F85E5}"/>
                </a:ext>
              </a:extLst>
            </p:cNvPr>
            <p:cNvSpPr/>
            <p:nvPr/>
          </p:nvSpPr>
          <p:spPr>
            <a:xfrm>
              <a:off x="297846" y="3429000"/>
              <a:ext cx="3359753" cy="842806"/>
            </a:xfrm>
            <a:prstGeom prst="roundRect">
              <a:avLst/>
            </a:prstGeom>
            <a:noFill/>
            <a:ln w="47625" cmpd="sng">
              <a:solidFill>
                <a:srgbClr val="FCA74D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D93431C-B62D-6E7F-3F8E-6A211F199C00}"/>
                </a:ext>
              </a:extLst>
            </p:cNvPr>
            <p:cNvSpPr txBox="1"/>
            <p:nvPr/>
          </p:nvSpPr>
          <p:spPr>
            <a:xfrm>
              <a:off x="297846" y="3491586"/>
              <a:ext cx="33597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Research Questions</a:t>
              </a:r>
            </a:p>
            <a:p>
              <a:pPr algn="ctr"/>
              <a:r>
                <a:rPr lang="en-US" sz="2000" b="1" dirty="0"/>
                <a:t>&amp; Literature Review</a:t>
              </a:r>
            </a:p>
            <a:p>
              <a:pPr algn="ctr"/>
              <a:endParaRPr lang="en-US" sz="2000" b="1" dirty="0"/>
            </a:p>
          </p:txBody>
        </p:sp>
      </p:grpSp>
      <p:pic>
        <p:nvPicPr>
          <p:cNvPr id="48" name="Graphic 47" descr="Handshake with solid fill">
            <a:extLst>
              <a:ext uri="{FF2B5EF4-FFF2-40B4-BE49-F238E27FC236}">
                <a16:creationId xmlns:a16="http://schemas.microsoft.com/office/drawing/2014/main" id="{28E55773-F322-AE63-87E4-7C35B36CC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6282" y="2930834"/>
            <a:ext cx="1279323" cy="116853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F415FDAF-FD28-EB61-F51B-679FE2BE2BEA}"/>
              </a:ext>
            </a:extLst>
          </p:cNvPr>
          <p:cNvGrpSpPr/>
          <p:nvPr/>
        </p:nvGrpSpPr>
        <p:grpSpPr>
          <a:xfrm>
            <a:off x="4318609" y="2230347"/>
            <a:ext cx="3359754" cy="842806"/>
            <a:chOff x="4571997" y="3438008"/>
            <a:chExt cx="3359754" cy="842806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0E2C247D-39DF-10D0-D21B-F7172C835CB4}"/>
                </a:ext>
              </a:extLst>
            </p:cNvPr>
            <p:cNvSpPr/>
            <p:nvPr/>
          </p:nvSpPr>
          <p:spPr>
            <a:xfrm>
              <a:off x="4571998" y="3438008"/>
              <a:ext cx="3359753" cy="842806"/>
            </a:xfrm>
            <a:prstGeom prst="roundRect">
              <a:avLst/>
            </a:prstGeom>
            <a:noFill/>
            <a:ln w="47625" cmpd="sng">
              <a:solidFill>
                <a:srgbClr val="EC5A5E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3F41F66-4501-12B9-7A19-9A465A12FCF5}"/>
                </a:ext>
              </a:extLst>
            </p:cNvPr>
            <p:cNvSpPr txBox="1"/>
            <p:nvPr/>
          </p:nvSpPr>
          <p:spPr>
            <a:xfrm>
              <a:off x="4571997" y="3650348"/>
              <a:ext cx="3359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Dataset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46E9A4-72C1-17EF-BF50-1BBC52737B82}"/>
              </a:ext>
            </a:extLst>
          </p:cNvPr>
          <p:cNvGrpSpPr/>
          <p:nvPr/>
        </p:nvGrpSpPr>
        <p:grpSpPr>
          <a:xfrm>
            <a:off x="5626967" y="3073153"/>
            <a:ext cx="914400" cy="914400"/>
            <a:chOff x="8673553" y="4749179"/>
            <a:chExt cx="914400" cy="914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3" name="Graphic 52" descr="Database with solid fill">
              <a:extLst>
                <a:ext uri="{FF2B5EF4-FFF2-40B4-BE49-F238E27FC236}">
                  <a16:creationId xmlns:a16="http://schemas.microsoft.com/office/drawing/2014/main" id="{A6348AE5-A579-EE6D-2182-930A78C45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73553" y="4749179"/>
              <a:ext cx="914400" cy="914400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549DB51-9EC6-297E-4300-FDADC8D989E0}"/>
                </a:ext>
              </a:extLst>
            </p:cNvPr>
            <p:cNvGrpSpPr/>
            <p:nvPr/>
          </p:nvGrpSpPr>
          <p:grpSpPr>
            <a:xfrm>
              <a:off x="9130753" y="5085945"/>
              <a:ext cx="412997" cy="412997"/>
              <a:chOff x="9685618" y="3974857"/>
              <a:chExt cx="532392" cy="532392"/>
            </a:xfrm>
          </p:grpSpPr>
          <p:pic>
            <p:nvPicPr>
              <p:cNvPr id="55" name="Graphic 54" descr="Checkmark with solid fill">
                <a:extLst>
                  <a:ext uri="{FF2B5EF4-FFF2-40B4-BE49-F238E27FC236}">
                    <a16:creationId xmlns:a16="http://schemas.microsoft.com/office/drawing/2014/main" id="{1027DC13-0453-0045-E182-B87633B3CB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726012" y="4032468"/>
                <a:ext cx="451603" cy="451603"/>
              </a:xfrm>
              <a:prstGeom prst="rect">
                <a:avLst/>
              </a:prstGeom>
            </p:spPr>
          </p:pic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DAC9583-B533-42B5-B9A4-8EC882CA816B}"/>
                  </a:ext>
                </a:extLst>
              </p:cNvPr>
              <p:cNvSpPr/>
              <p:nvPr/>
            </p:nvSpPr>
            <p:spPr>
              <a:xfrm>
                <a:off x="9685618" y="3974857"/>
                <a:ext cx="532392" cy="532392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80CA36C-F48F-174C-A3A3-7BC526EEBF99}"/>
              </a:ext>
            </a:extLst>
          </p:cNvPr>
          <p:cNvGrpSpPr/>
          <p:nvPr/>
        </p:nvGrpSpPr>
        <p:grpSpPr>
          <a:xfrm>
            <a:off x="8381152" y="2221339"/>
            <a:ext cx="3359754" cy="842806"/>
            <a:chOff x="4571997" y="3438008"/>
            <a:chExt cx="3359754" cy="842806"/>
          </a:xfrm>
        </p:grpSpPr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A7EB28CA-0BF2-4245-BF76-2F59942FD356}"/>
                </a:ext>
              </a:extLst>
            </p:cNvPr>
            <p:cNvSpPr/>
            <p:nvPr/>
          </p:nvSpPr>
          <p:spPr>
            <a:xfrm>
              <a:off x="4571998" y="3438008"/>
              <a:ext cx="3359753" cy="842806"/>
            </a:xfrm>
            <a:prstGeom prst="roundRect">
              <a:avLst/>
            </a:prstGeom>
            <a:noFill/>
            <a:ln w="47625" cmpd="sng">
              <a:solidFill>
                <a:srgbClr val="43A1D7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94808D0-015E-1E6C-560B-FC73BB1F8E8C}"/>
                </a:ext>
              </a:extLst>
            </p:cNvPr>
            <p:cNvSpPr txBox="1"/>
            <p:nvPr/>
          </p:nvSpPr>
          <p:spPr>
            <a:xfrm>
              <a:off x="4571997" y="3650348"/>
              <a:ext cx="3359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Data Preparation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2F3CAB-0C19-E20A-3AE8-C707C181DE62}"/>
              </a:ext>
            </a:extLst>
          </p:cNvPr>
          <p:cNvGrpSpPr/>
          <p:nvPr/>
        </p:nvGrpSpPr>
        <p:grpSpPr>
          <a:xfrm>
            <a:off x="8381151" y="4583367"/>
            <a:ext cx="3359754" cy="842806"/>
            <a:chOff x="4571997" y="3438008"/>
            <a:chExt cx="3359754" cy="842806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CDD4F55F-367A-7C0A-0160-B8CFF1939843}"/>
                </a:ext>
              </a:extLst>
            </p:cNvPr>
            <p:cNvSpPr/>
            <p:nvPr/>
          </p:nvSpPr>
          <p:spPr>
            <a:xfrm>
              <a:off x="4571998" y="3438008"/>
              <a:ext cx="3359753" cy="842806"/>
            </a:xfrm>
            <a:prstGeom prst="roundRect">
              <a:avLst/>
            </a:prstGeom>
            <a:noFill/>
            <a:ln w="47625" cmpd="sng">
              <a:solidFill>
                <a:srgbClr val="45627A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B60B522-B321-9633-4FA5-B8B4E2D23CE8}"/>
                </a:ext>
              </a:extLst>
            </p:cNvPr>
            <p:cNvSpPr txBox="1"/>
            <p:nvPr/>
          </p:nvSpPr>
          <p:spPr>
            <a:xfrm>
              <a:off x="4571997" y="3650348"/>
              <a:ext cx="3359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Modeling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1EE826-35AD-4612-A7DC-E3E63A71359B}"/>
              </a:ext>
            </a:extLst>
          </p:cNvPr>
          <p:cNvGrpSpPr/>
          <p:nvPr/>
        </p:nvGrpSpPr>
        <p:grpSpPr>
          <a:xfrm>
            <a:off x="4318609" y="4583367"/>
            <a:ext cx="3445433" cy="842806"/>
            <a:chOff x="4571998" y="3438008"/>
            <a:chExt cx="3445433" cy="842806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752FEB0-5EA9-9B7E-6CBA-D042D660C0D2}"/>
                </a:ext>
              </a:extLst>
            </p:cNvPr>
            <p:cNvSpPr/>
            <p:nvPr/>
          </p:nvSpPr>
          <p:spPr>
            <a:xfrm>
              <a:off x="4571998" y="3438008"/>
              <a:ext cx="3359753" cy="842806"/>
            </a:xfrm>
            <a:prstGeom prst="roundRect">
              <a:avLst/>
            </a:prstGeom>
            <a:noFill/>
            <a:ln w="47625" cmpd="sng">
              <a:solidFill>
                <a:srgbClr val="807699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1966331-7E7E-9966-9D12-54F78E945382}"/>
                </a:ext>
              </a:extLst>
            </p:cNvPr>
            <p:cNvSpPr txBox="1"/>
            <p:nvPr/>
          </p:nvSpPr>
          <p:spPr>
            <a:xfrm>
              <a:off x="4657678" y="3505468"/>
              <a:ext cx="33597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Evaluation &amp;</a:t>
              </a:r>
            </a:p>
            <a:p>
              <a:pPr algn="ctr"/>
              <a:r>
                <a:rPr lang="en-US" sz="2000" b="1" dirty="0"/>
                <a:t>Validation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7C4AFCD-D395-7E97-4275-4323AF85651D}"/>
              </a:ext>
            </a:extLst>
          </p:cNvPr>
          <p:cNvGrpSpPr/>
          <p:nvPr/>
        </p:nvGrpSpPr>
        <p:grpSpPr>
          <a:xfrm>
            <a:off x="256067" y="4583367"/>
            <a:ext cx="3359753" cy="842806"/>
            <a:chOff x="297846" y="3429000"/>
            <a:chExt cx="3359753" cy="842806"/>
          </a:xfrm>
        </p:grpSpPr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70B5FE2-97A0-8EFA-7414-C35E09A8619E}"/>
                </a:ext>
              </a:extLst>
            </p:cNvPr>
            <p:cNvSpPr/>
            <p:nvPr/>
          </p:nvSpPr>
          <p:spPr>
            <a:xfrm>
              <a:off x="297846" y="3429000"/>
              <a:ext cx="3359753" cy="842806"/>
            </a:xfrm>
            <a:prstGeom prst="roundRect">
              <a:avLst/>
            </a:prstGeom>
            <a:noFill/>
            <a:ln w="47625" cmpd="sng"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871330"/>
                        <a:gd name="csY0" fmla="*/ 180755 h 1084509"/>
                        <a:gd name="csX1" fmla="*/ 180755 w 1871330"/>
                        <a:gd name="csY1" fmla="*/ 0 h 1084509"/>
                        <a:gd name="csX2" fmla="*/ 1690575 w 1871330"/>
                        <a:gd name="csY2" fmla="*/ 0 h 1084509"/>
                        <a:gd name="csX3" fmla="*/ 1871330 w 1871330"/>
                        <a:gd name="csY3" fmla="*/ 180755 h 1084509"/>
                        <a:gd name="csX4" fmla="*/ 1871330 w 1871330"/>
                        <a:gd name="csY4" fmla="*/ 903754 h 1084509"/>
                        <a:gd name="csX5" fmla="*/ 1690575 w 1871330"/>
                        <a:gd name="csY5" fmla="*/ 1084509 h 1084509"/>
                        <a:gd name="csX6" fmla="*/ 180755 w 1871330"/>
                        <a:gd name="csY6" fmla="*/ 1084509 h 1084509"/>
                        <a:gd name="csX7" fmla="*/ 0 w 1871330"/>
                        <a:gd name="csY7" fmla="*/ 903754 h 1084509"/>
                        <a:gd name="csX8" fmla="*/ 0 w 1871330"/>
                        <a:gd name="csY8" fmla="*/ 180755 h 108450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871330" h="1084509" extrusionOk="0">
                          <a:moveTo>
                            <a:pt x="0" y="180755"/>
                          </a:moveTo>
                          <a:cubicBezTo>
                            <a:pt x="-11337" y="73934"/>
                            <a:pt x="65010" y="5974"/>
                            <a:pt x="180755" y="0"/>
                          </a:cubicBezTo>
                          <a:cubicBezTo>
                            <a:pt x="858709" y="63031"/>
                            <a:pt x="975508" y="-81782"/>
                            <a:pt x="1690575" y="0"/>
                          </a:cubicBezTo>
                          <a:cubicBezTo>
                            <a:pt x="1787090" y="3235"/>
                            <a:pt x="1870852" y="83569"/>
                            <a:pt x="1871330" y="180755"/>
                          </a:cubicBezTo>
                          <a:cubicBezTo>
                            <a:pt x="1918052" y="344278"/>
                            <a:pt x="1896187" y="603713"/>
                            <a:pt x="1871330" y="903754"/>
                          </a:cubicBezTo>
                          <a:cubicBezTo>
                            <a:pt x="1887449" y="1005494"/>
                            <a:pt x="1791817" y="1081600"/>
                            <a:pt x="1690575" y="1084509"/>
                          </a:cubicBezTo>
                          <a:cubicBezTo>
                            <a:pt x="1256945" y="1003189"/>
                            <a:pt x="549039" y="967991"/>
                            <a:pt x="180755" y="1084509"/>
                          </a:cubicBezTo>
                          <a:cubicBezTo>
                            <a:pt x="79126" y="1067338"/>
                            <a:pt x="-6654" y="1012829"/>
                            <a:pt x="0" y="903754"/>
                          </a:cubicBezTo>
                          <a:cubicBezTo>
                            <a:pt x="-5258" y="578149"/>
                            <a:pt x="9948" y="375555"/>
                            <a:pt x="0" y="1807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dir="13500000" algn="br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1E8D66-B5D7-6FF8-868F-292C08205DE8}"/>
                </a:ext>
              </a:extLst>
            </p:cNvPr>
            <p:cNvSpPr txBox="1"/>
            <p:nvPr/>
          </p:nvSpPr>
          <p:spPr>
            <a:xfrm>
              <a:off x="297846" y="3491586"/>
              <a:ext cx="33597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Limitations &amp;</a:t>
              </a:r>
            </a:p>
            <a:p>
              <a:pPr algn="ctr"/>
              <a:r>
                <a:rPr lang="en-US" sz="2000" b="1" dirty="0"/>
                <a:t>Conclusions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C9A3E60-2EB4-3990-B056-A083050ADACA}"/>
              </a:ext>
            </a:extLst>
          </p:cNvPr>
          <p:cNvGrpSpPr/>
          <p:nvPr/>
        </p:nvGrpSpPr>
        <p:grpSpPr>
          <a:xfrm>
            <a:off x="9588254" y="3029772"/>
            <a:ext cx="958238" cy="923791"/>
            <a:chOff x="9604455" y="3015526"/>
            <a:chExt cx="958238" cy="9237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0" name="Graphic 69" descr="Open folder with solid fill">
              <a:extLst>
                <a:ext uri="{FF2B5EF4-FFF2-40B4-BE49-F238E27FC236}">
                  <a16:creationId xmlns:a16="http://schemas.microsoft.com/office/drawing/2014/main" id="{A171F9CB-0D9A-48D8-0574-1692AED60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04455" y="3015526"/>
              <a:ext cx="914400" cy="914400"/>
            </a:xfrm>
            <a:prstGeom prst="rect">
              <a:avLst/>
            </a:prstGeom>
          </p:spPr>
        </p:pic>
        <p:pic>
          <p:nvPicPr>
            <p:cNvPr id="71" name="Graphic 70" descr="Single gear with solid fill">
              <a:extLst>
                <a:ext uri="{FF2B5EF4-FFF2-40B4-BE49-F238E27FC236}">
                  <a16:creationId xmlns:a16="http://schemas.microsoft.com/office/drawing/2014/main" id="{9A8D5BB4-3D26-5751-7E5E-3A10E1834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81318" y="3357942"/>
              <a:ext cx="581375" cy="581375"/>
            </a:xfrm>
            <a:prstGeom prst="rect">
              <a:avLst/>
            </a:prstGeom>
          </p:spPr>
        </p:pic>
      </p:grpSp>
      <p:pic>
        <p:nvPicPr>
          <p:cNvPr id="72" name="Graphic 71" descr="Document with solid fill">
            <a:extLst>
              <a:ext uri="{FF2B5EF4-FFF2-40B4-BE49-F238E27FC236}">
                <a16:creationId xmlns:a16="http://schemas.microsoft.com/office/drawing/2014/main" id="{22F627AE-126D-4767-CA75-7807980CAC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40472" y="5426173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46AA4072-ECFC-B319-A2B9-17D26F4EABFF}"/>
              </a:ext>
            </a:extLst>
          </p:cNvPr>
          <p:cNvSpPr/>
          <p:nvPr/>
        </p:nvSpPr>
        <p:spPr>
          <a:xfrm>
            <a:off x="10154975" y="5907171"/>
            <a:ext cx="412997" cy="412997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4" name="Graphic 73" descr="Checkmark with solid fill">
            <a:extLst>
              <a:ext uri="{FF2B5EF4-FFF2-40B4-BE49-F238E27FC236}">
                <a16:creationId xmlns:a16="http://schemas.microsoft.com/office/drawing/2014/main" id="{C1C135C1-9715-5B11-6E82-B39D8FB8A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6166" y="5938506"/>
            <a:ext cx="350326" cy="350326"/>
          </a:xfrm>
          <a:prstGeom prst="rect">
            <a:avLst/>
          </a:prstGeom>
        </p:spPr>
      </p:pic>
      <p:pic>
        <p:nvPicPr>
          <p:cNvPr id="75" name="Graphic 74" descr="Morse Code with solid fill">
            <a:extLst>
              <a:ext uri="{FF2B5EF4-FFF2-40B4-BE49-F238E27FC236}">
                <a16:creationId xmlns:a16="http://schemas.microsoft.com/office/drawing/2014/main" id="{F19F7960-F3EA-4D9C-9240-19520B25A9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44850" y="5314146"/>
            <a:ext cx="1078633" cy="10786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6" name="Graphic 75" descr="Magnifying glass with solid fill">
            <a:extLst>
              <a:ext uri="{FF2B5EF4-FFF2-40B4-BE49-F238E27FC236}">
                <a16:creationId xmlns:a16="http://schemas.microsoft.com/office/drawing/2014/main" id="{A094F79B-7C73-7768-D24B-BABA0CAA39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79323" y="5527490"/>
            <a:ext cx="914400" cy="914400"/>
          </a:xfrm>
          <a:prstGeom prst="rect">
            <a:avLst/>
          </a:prstGeom>
        </p:spPr>
      </p:pic>
      <p:pic>
        <p:nvPicPr>
          <p:cNvPr id="77" name="Graphic 76" descr="Arrow Right with solid fill">
            <a:extLst>
              <a:ext uri="{FF2B5EF4-FFF2-40B4-BE49-F238E27FC236}">
                <a16:creationId xmlns:a16="http://schemas.microsoft.com/office/drawing/2014/main" id="{E29A6874-2BC8-2FF3-2B19-36D67B6EB01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90438" y="2185542"/>
            <a:ext cx="728170" cy="914400"/>
          </a:xfrm>
          <a:prstGeom prst="rect">
            <a:avLst/>
          </a:prstGeom>
        </p:spPr>
      </p:pic>
      <p:pic>
        <p:nvPicPr>
          <p:cNvPr id="78" name="Graphic 77" descr="Arrow Right with solid fill">
            <a:extLst>
              <a:ext uri="{FF2B5EF4-FFF2-40B4-BE49-F238E27FC236}">
                <a16:creationId xmlns:a16="http://schemas.microsoft.com/office/drawing/2014/main" id="{549CAA3F-5112-D8A1-F9E8-4675EFECDC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65672" y="2172069"/>
            <a:ext cx="728170" cy="914400"/>
          </a:xfrm>
          <a:prstGeom prst="rect">
            <a:avLst/>
          </a:prstGeom>
        </p:spPr>
      </p:pic>
      <p:pic>
        <p:nvPicPr>
          <p:cNvPr id="79" name="Graphic 78" descr="Arrow Right with solid fill">
            <a:extLst>
              <a:ext uri="{FF2B5EF4-FFF2-40B4-BE49-F238E27FC236}">
                <a16:creationId xmlns:a16="http://schemas.microsoft.com/office/drawing/2014/main" id="{8DF94B27-C417-B666-16F5-69F116CC97C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7652980" y="4547570"/>
            <a:ext cx="728170" cy="914400"/>
          </a:xfrm>
          <a:prstGeom prst="rect">
            <a:avLst/>
          </a:prstGeom>
        </p:spPr>
      </p:pic>
      <p:pic>
        <p:nvPicPr>
          <p:cNvPr id="80" name="Graphic 79" descr="Arrow Right with solid fill">
            <a:extLst>
              <a:ext uri="{FF2B5EF4-FFF2-40B4-BE49-F238E27FC236}">
                <a16:creationId xmlns:a16="http://schemas.microsoft.com/office/drawing/2014/main" id="{051C11FB-270C-B19B-829B-0E2766EB589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3605879" y="4547933"/>
            <a:ext cx="728170" cy="914400"/>
          </a:xfrm>
          <a:prstGeom prst="rect">
            <a:avLst/>
          </a:prstGeom>
        </p:spPr>
      </p:pic>
      <p:pic>
        <p:nvPicPr>
          <p:cNvPr id="81" name="Graphic 80" descr="Arrow Right with solid fill">
            <a:extLst>
              <a:ext uri="{FF2B5EF4-FFF2-40B4-BE49-F238E27FC236}">
                <a16:creationId xmlns:a16="http://schemas.microsoft.com/office/drawing/2014/main" id="{6D5B6342-C655-5E17-8FAF-3AF60ADF193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5400000">
            <a:off x="11201080" y="3316804"/>
            <a:ext cx="728170" cy="914400"/>
          </a:xfrm>
          <a:prstGeom prst="rect">
            <a:avLst/>
          </a:prstGeom>
        </p:spPr>
      </p:pic>
      <p:pic>
        <p:nvPicPr>
          <p:cNvPr id="82" name="Graphic 81" descr="Puzzle pieces with solid fill">
            <a:extLst>
              <a:ext uri="{FF2B5EF4-FFF2-40B4-BE49-F238E27FC236}">
                <a16:creationId xmlns:a16="http://schemas.microsoft.com/office/drawing/2014/main" id="{5969DE83-8B48-9789-3727-0FE3A3464AD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473773" y="5396262"/>
            <a:ext cx="954088" cy="954088"/>
          </a:xfrm>
          <a:prstGeom prst="rect">
            <a:avLst/>
          </a:prstGeom>
        </p:spPr>
      </p:pic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D2DD351F-0DD1-B6E3-FEC7-DC6EC49C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74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512E-010F-7EBA-9C70-C535832C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09B9201-5C37-249B-648B-0303C1975927}"/>
              </a:ext>
            </a:extLst>
          </p:cNvPr>
          <p:cNvSpPr txBox="1"/>
          <p:nvPr/>
        </p:nvSpPr>
        <p:spPr>
          <a:xfrm>
            <a:off x="1235720" y="85061"/>
            <a:ext cx="9718160" cy="15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SzPts val="990"/>
            </a:pPr>
            <a:r>
              <a:rPr lang="en-US" sz="2800" dirty="0"/>
              <a:t>Motorcycle crashes in California produce disproportionately fatal and severe injuries, making severity prediction a </a:t>
            </a:r>
            <a:r>
              <a:rPr lang="en-US" sz="2800" b="1" dirty="0"/>
              <a:t>public safety concern.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9C8C34-CB06-F085-1BC5-4985A813A7F9}"/>
              </a:ext>
            </a:extLst>
          </p:cNvPr>
          <p:cNvCxnSpPr>
            <a:cxnSpLocks/>
          </p:cNvCxnSpPr>
          <p:nvPr/>
        </p:nvCxnSpPr>
        <p:spPr>
          <a:xfrm>
            <a:off x="-13033" y="1656062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71A13B03-B01F-FB8F-968B-E12489B9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50AAFB-91E9-E0FD-3BFC-EA291C9D6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5" y="2055897"/>
            <a:ext cx="5443132" cy="395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7C072A4-4D7A-AE2A-D023-7A93534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677" y="1837815"/>
            <a:ext cx="4665159" cy="231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EB942621-4F9D-47C5-D593-2DD20F118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677" y="4264270"/>
            <a:ext cx="4665159" cy="223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phic 1" descr="Handshake with solid fill">
            <a:extLst>
              <a:ext uri="{FF2B5EF4-FFF2-40B4-BE49-F238E27FC236}">
                <a16:creationId xmlns:a16="http://schemas.microsoft.com/office/drawing/2014/main" id="{8E25FA63-0601-6C37-9AAF-A1BAD7260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015" y="305778"/>
            <a:ext cx="1279323" cy="116853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4ECF9-4E76-BD6F-3619-AC099A5926A6}"/>
              </a:ext>
            </a:extLst>
          </p:cNvPr>
          <p:cNvSpPr txBox="1"/>
          <p:nvPr/>
        </p:nvSpPr>
        <p:spPr>
          <a:xfrm>
            <a:off x="2798121" y="6026874"/>
            <a:ext cx="112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(TIMS, 2025)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5125B-19B8-9CCD-253E-BA4F29117511}"/>
              </a:ext>
            </a:extLst>
          </p:cNvPr>
          <p:cNvSpPr txBox="1"/>
          <p:nvPr/>
        </p:nvSpPr>
        <p:spPr>
          <a:xfrm>
            <a:off x="6747750" y="6548048"/>
            <a:ext cx="45560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(Safe Transportation Research and Education Center, 2025)</a:t>
            </a:r>
          </a:p>
        </p:txBody>
      </p:sp>
    </p:spTree>
    <p:extLst>
      <p:ext uri="{BB962C8B-B14F-4D97-AF65-F5344CB8AC3E}">
        <p14:creationId xmlns:p14="http://schemas.microsoft.com/office/powerpoint/2010/main" val="975776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F173-5211-8DA1-B531-0260B5CF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6B89C9B-5307-9803-0BC1-109C359F3659}"/>
              </a:ext>
            </a:extLst>
          </p:cNvPr>
          <p:cNvSpPr txBox="1"/>
          <p:nvPr/>
        </p:nvSpPr>
        <p:spPr>
          <a:xfrm>
            <a:off x="1235720" y="85061"/>
            <a:ext cx="9718160" cy="1048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SzPts val="990"/>
            </a:pPr>
            <a:r>
              <a:rPr lang="en" sz="2800" b="1" dirty="0"/>
              <a:t>Prior literature</a:t>
            </a:r>
            <a:r>
              <a:rPr lang="en" sz="2800" dirty="0"/>
              <a:t> and local evidence demonstrate disproportionate motorcycle injury risk</a:t>
            </a:r>
            <a:endParaRPr lang="en-US" sz="2800" b="1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DEAC37-8E87-5587-08A2-A8347CB5AA55}"/>
              </a:ext>
            </a:extLst>
          </p:cNvPr>
          <p:cNvCxnSpPr>
            <a:cxnSpLocks/>
          </p:cNvCxnSpPr>
          <p:nvPr/>
        </p:nvCxnSpPr>
        <p:spPr>
          <a:xfrm>
            <a:off x="-13033" y="1656062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174B1756-6C26-0155-5F75-7D0A2BD7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" name="Graphic 1" descr="Handshake with solid fill">
            <a:extLst>
              <a:ext uri="{FF2B5EF4-FFF2-40B4-BE49-F238E27FC236}">
                <a16:creationId xmlns:a16="http://schemas.microsoft.com/office/drawing/2014/main" id="{E5E75ED8-21E5-CC62-4C01-398E3C9C2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015" y="305778"/>
            <a:ext cx="1279323" cy="116853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D2724A-1391-2864-DE22-47F974E71AF4}"/>
              </a:ext>
            </a:extLst>
          </p:cNvPr>
          <p:cNvSpPr txBox="1"/>
          <p:nvPr/>
        </p:nvSpPr>
        <p:spPr>
          <a:xfrm>
            <a:off x="1936109" y="5830379"/>
            <a:ext cx="23383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(California OTS &amp; DMV, 2023)</a:t>
            </a:r>
          </a:p>
        </p:txBody>
      </p:sp>
      <p:pic>
        <p:nvPicPr>
          <p:cNvPr id="3" name="Google Shape;176;p40">
            <a:extLst>
              <a:ext uri="{FF2B5EF4-FFF2-40B4-BE49-F238E27FC236}">
                <a16:creationId xmlns:a16="http://schemas.microsoft.com/office/drawing/2014/main" id="{1C0CE42A-6D97-A9B6-0130-A44DEC1B7E4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15" y="1897875"/>
            <a:ext cx="5514512" cy="382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nline Media 6" descr="Uninsured Rider Crashes his Yamaha R6 into Another Rider—An Extended BTS Look!">
            <a:hlinkClick r:id="" action="ppaction://media"/>
            <a:extLst>
              <a:ext uri="{FF2B5EF4-FFF2-40B4-BE49-F238E27FC236}">
                <a16:creationId xmlns:a16="http://schemas.microsoft.com/office/drawing/2014/main" id="{44332945-DDD9-E430-5055-9432698A6AB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6329473" y="2611369"/>
            <a:ext cx="5514512" cy="31156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A89F2A-4852-13DE-4EF5-878332CE4B69}"/>
              </a:ext>
            </a:extLst>
          </p:cNvPr>
          <p:cNvSpPr txBox="1"/>
          <p:nvPr/>
        </p:nvSpPr>
        <p:spPr>
          <a:xfrm>
            <a:off x="6148590" y="1897875"/>
            <a:ext cx="610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2"/>
                </a:solidFill>
              </a:rPr>
              <a:t>Motorcyclists face </a:t>
            </a:r>
            <a:r>
              <a:rPr lang="en-US" sz="1800" dirty="0">
                <a:solidFill>
                  <a:schemeClr val="dk1"/>
                </a:solidFill>
              </a:rPr>
              <a:t>24-28x</a:t>
            </a:r>
            <a:r>
              <a:rPr lang="en-US" sz="1800" dirty="0">
                <a:solidFill>
                  <a:schemeClr val="dk2"/>
                </a:solidFill>
              </a:rPr>
              <a:t> higher fatality risk per mile traveled.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1874C-5152-FBA7-5BC1-27C81198B760}"/>
              </a:ext>
            </a:extLst>
          </p:cNvPr>
          <p:cNvSpPr txBox="1"/>
          <p:nvPr/>
        </p:nvSpPr>
        <p:spPr>
          <a:xfrm>
            <a:off x="7998644" y="5830379"/>
            <a:ext cx="2407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(Project 65 Studios, 2024)</a:t>
            </a:r>
          </a:p>
        </p:txBody>
      </p:sp>
    </p:spTree>
    <p:extLst>
      <p:ext uri="{BB962C8B-B14F-4D97-AF65-F5344CB8AC3E}">
        <p14:creationId xmlns:p14="http://schemas.microsoft.com/office/powerpoint/2010/main" val="116027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FC88-464D-D575-4CF6-DBE4365A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EA713A2-1B83-57CD-D0C6-E0FBF53CD46B}"/>
              </a:ext>
            </a:extLst>
          </p:cNvPr>
          <p:cNvSpPr txBox="1"/>
          <p:nvPr/>
        </p:nvSpPr>
        <p:spPr>
          <a:xfrm>
            <a:off x="1235720" y="85061"/>
            <a:ext cx="9718160" cy="1541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SzPts val="2800"/>
            </a:pPr>
            <a:r>
              <a:rPr lang="en-US" sz="2800" b="1" dirty="0"/>
              <a:t>Prior literature</a:t>
            </a:r>
            <a:r>
              <a:rPr lang="en-US" sz="2800" dirty="0"/>
              <a:t> shows that motorcycle injury severity is driven by interacting behavioral, human, environmental, and vehicle factors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FA3E02-2780-45C8-D71E-D48BE58FACB9}"/>
              </a:ext>
            </a:extLst>
          </p:cNvPr>
          <p:cNvCxnSpPr>
            <a:cxnSpLocks/>
          </p:cNvCxnSpPr>
          <p:nvPr/>
        </p:nvCxnSpPr>
        <p:spPr>
          <a:xfrm>
            <a:off x="-13033" y="1633484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4F90C6A3-1210-126D-F2DF-FA35D810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" name="Graphic 1" descr="Handshake with solid fill">
            <a:extLst>
              <a:ext uri="{FF2B5EF4-FFF2-40B4-BE49-F238E27FC236}">
                <a16:creationId xmlns:a16="http://schemas.microsoft.com/office/drawing/2014/main" id="{FC0B6BE9-C41B-0D5D-30C2-096761598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15" y="305778"/>
            <a:ext cx="1279323" cy="116853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4" name="Google Shape;138;p29">
            <a:extLst>
              <a:ext uri="{FF2B5EF4-FFF2-40B4-BE49-F238E27FC236}">
                <a16:creationId xmlns:a16="http://schemas.microsoft.com/office/drawing/2014/main" id="{C77FD565-DA60-2E6D-0812-1EB74D21B8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8019" y="1768194"/>
            <a:ext cx="4567297" cy="489021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59;p29">
            <a:extLst>
              <a:ext uri="{FF2B5EF4-FFF2-40B4-BE49-F238E27FC236}">
                <a16:creationId xmlns:a16="http://schemas.microsoft.com/office/drawing/2014/main" id="{DEACC992-952D-A8F3-3750-E2DE7E850C4C}"/>
              </a:ext>
            </a:extLst>
          </p:cNvPr>
          <p:cNvSpPr/>
          <p:nvPr/>
        </p:nvSpPr>
        <p:spPr>
          <a:xfrm>
            <a:off x="9503909" y="2172722"/>
            <a:ext cx="1907936" cy="4081157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SHAP values show the direction and magnitude of each variable’s contribution to injury severity predictions.</a:t>
            </a:r>
            <a:endParaRPr sz="1400" dirty="0"/>
          </a:p>
        </p:txBody>
      </p:sp>
      <p:sp>
        <p:nvSpPr>
          <p:cNvPr id="26" name="Google Shape;148;p29">
            <a:extLst>
              <a:ext uri="{FF2B5EF4-FFF2-40B4-BE49-F238E27FC236}">
                <a16:creationId xmlns:a16="http://schemas.microsoft.com/office/drawing/2014/main" id="{74D56B9F-0710-C840-968A-31EFDF857FED}"/>
              </a:ext>
            </a:extLst>
          </p:cNvPr>
          <p:cNvSpPr/>
          <p:nvPr/>
        </p:nvSpPr>
        <p:spPr>
          <a:xfrm>
            <a:off x="1235720" y="3628789"/>
            <a:ext cx="2125200" cy="327300"/>
          </a:xfrm>
          <a:prstGeom prst="roundRect">
            <a:avLst>
              <a:gd name="adj" fmla="val 16667"/>
            </a:avLst>
          </a:prstGeom>
          <a:solidFill>
            <a:srgbClr val="3D85C6"/>
          </a:solidFill>
          <a:ln w="4427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  <a:effectLst>
            <a:outerShdw blurRad="48784" dist="16261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6275" tIns="106275" rIns="106275" bIns="10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1">
                <a:solidFill>
                  <a:schemeClr val="lt1"/>
                </a:solidFill>
              </a:rPr>
              <a:t>Vehicle Factors</a:t>
            </a:r>
            <a:endParaRPr sz="1371">
              <a:solidFill>
                <a:schemeClr val="lt1"/>
              </a:solidFill>
            </a:endParaRPr>
          </a:p>
        </p:txBody>
      </p:sp>
      <p:sp>
        <p:nvSpPr>
          <p:cNvPr id="27" name="Google Shape;149;p29">
            <a:extLst>
              <a:ext uri="{FF2B5EF4-FFF2-40B4-BE49-F238E27FC236}">
                <a16:creationId xmlns:a16="http://schemas.microsoft.com/office/drawing/2014/main" id="{A99C8538-5E23-5ED7-CD84-F0121C7EE1DB}"/>
              </a:ext>
            </a:extLst>
          </p:cNvPr>
          <p:cNvSpPr/>
          <p:nvPr/>
        </p:nvSpPr>
        <p:spPr>
          <a:xfrm>
            <a:off x="1235720" y="4269293"/>
            <a:ext cx="2125200" cy="2853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 w="442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  <a:effectLst>
            <a:outerShdw blurRad="48784" dist="16261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6275" tIns="106275" rIns="106275" bIns="10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1" dirty="0">
                <a:solidFill>
                  <a:schemeClr val="lt1"/>
                </a:solidFill>
              </a:rPr>
              <a:t>Environmental  Factors</a:t>
            </a:r>
            <a:endParaRPr sz="1371" dirty="0">
              <a:solidFill>
                <a:schemeClr val="lt1"/>
              </a:solidFill>
            </a:endParaRPr>
          </a:p>
        </p:txBody>
      </p:sp>
      <p:sp>
        <p:nvSpPr>
          <p:cNvPr id="28" name="Google Shape;150;p29">
            <a:extLst>
              <a:ext uri="{FF2B5EF4-FFF2-40B4-BE49-F238E27FC236}">
                <a16:creationId xmlns:a16="http://schemas.microsoft.com/office/drawing/2014/main" id="{E5DC0AC8-6441-D225-1CF6-E8FA8EC33E7F}"/>
              </a:ext>
            </a:extLst>
          </p:cNvPr>
          <p:cNvSpPr/>
          <p:nvPr/>
        </p:nvSpPr>
        <p:spPr>
          <a:xfrm>
            <a:off x="1235720" y="4867797"/>
            <a:ext cx="2125200" cy="285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442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48784" dist="16261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6275" tIns="106275" rIns="106275" bIns="10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1" dirty="0">
                <a:solidFill>
                  <a:schemeClr val="lt1"/>
                </a:solidFill>
              </a:rPr>
              <a:t>Human Factors</a:t>
            </a:r>
            <a:endParaRPr sz="1371" dirty="0">
              <a:solidFill>
                <a:schemeClr val="lt1"/>
              </a:solidFill>
            </a:endParaRPr>
          </a:p>
        </p:txBody>
      </p:sp>
      <p:sp>
        <p:nvSpPr>
          <p:cNvPr id="29" name="Google Shape;160;p29">
            <a:extLst>
              <a:ext uri="{FF2B5EF4-FFF2-40B4-BE49-F238E27FC236}">
                <a16:creationId xmlns:a16="http://schemas.microsoft.com/office/drawing/2014/main" id="{1E190EFA-9204-D3B7-6627-863535A2F019}"/>
              </a:ext>
            </a:extLst>
          </p:cNvPr>
          <p:cNvSpPr/>
          <p:nvPr/>
        </p:nvSpPr>
        <p:spPr>
          <a:xfrm>
            <a:off x="1235720" y="2895586"/>
            <a:ext cx="2125200" cy="3273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4427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  <a:effectLst>
            <a:outerShdw blurRad="48784" dist="16261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06275" tIns="106275" rIns="106275" bIns="10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1" dirty="0">
                <a:solidFill>
                  <a:schemeClr val="lt1"/>
                </a:solidFill>
              </a:rPr>
              <a:t>Behavioral Factors</a:t>
            </a:r>
            <a:endParaRPr sz="1371" dirty="0">
              <a:solidFill>
                <a:schemeClr val="lt1"/>
              </a:solidFill>
            </a:endParaRPr>
          </a:p>
        </p:txBody>
      </p:sp>
      <p:sp>
        <p:nvSpPr>
          <p:cNvPr id="30" name="Google Shape;139;p29">
            <a:extLst>
              <a:ext uri="{FF2B5EF4-FFF2-40B4-BE49-F238E27FC236}">
                <a16:creationId xmlns:a16="http://schemas.microsoft.com/office/drawing/2014/main" id="{47132899-2A1B-2B4A-30CA-AE5F83422C81}"/>
              </a:ext>
            </a:extLst>
          </p:cNvPr>
          <p:cNvSpPr/>
          <p:nvPr/>
        </p:nvSpPr>
        <p:spPr>
          <a:xfrm>
            <a:off x="5607946" y="2982729"/>
            <a:ext cx="826500" cy="16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40;p29">
            <a:extLst>
              <a:ext uri="{FF2B5EF4-FFF2-40B4-BE49-F238E27FC236}">
                <a16:creationId xmlns:a16="http://schemas.microsoft.com/office/drawing/2014/main" id="{1A5CDE7B-C710-CE3D-26CC-2E706FD06026}"/>
              </a:ext>
            </a:extLst>
          </p:cNvPr>
          <p:cNvSpPr/>
          <p:nvPr/>
        </p:nvSpPr>
        <p:spPr>
          <a:xfrm>
            <a:off x="5674921" y="3420794"/>
            <a:ext cx="826500" cy="20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41;p29">
            <a:extLst>
              <a:ext uri="{FF2B5EF4-FFF2-40B4-BE49-F238E27FC236}">
                <a16:creationId xmlns:a16="http://schemas.microsoft.com/office/drawing/2014/main" id="{9149F041-E8AD-A310-9FD3-FEEE59C615AF}"/>
              </a:ext>
            </a:extLst>
          </p:cNvPr>
          <p:cNvSpPr/>
          <p:nvPr/>
        </p:nvSpPr>
        <p:spPr>
          <a:xfrm>
            <a:off x="5446396" y="5762750"/>
            <a:ext cx="960300" cy="20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42;p29">
            <a:extLst>
              <a:ext uri="{FF2B5EF4-FFF2-40B4-BE49-F238E27FC236}">
                <a16:creationId xmlns:a16="http://schemas.microsoft.com/office/drawing/2014/main" id="{F80291C5-7BA8-7456-C360-E39832D1E859}"/>
              </a:ext>
            </a:extLst>
          </p:cNvPr>
          <p:cNvSpPr/>
          <p:nvPr/>
        </p:nvSpPr>
        <p:spPr>
          <a:xfrm>
            <a:off x="5569196" y="4130490"/>
            <a:ext cx="826500" cy="20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43;p29">
            <a:extLst>
              <a:ext uri="{FF2B5EF4-FFF2-40B4-BE49-F238E27FC236}">
                <a16:creationId xmlns:a16="http://schemas.microsoft.com/office/drawing/2014/main" id="{624BD64E-DD53-6309-9FE2-8E280DAF514A}"/>
              </a:ext>
            </a:extLst>
          </p:cNvPr>
          <p:cNvSpPr/>
          <p:nvPr/>
        </p:nvSpPr>
        <p:spPr>
          <a:xfrm>
            <a:off x="5637175" y="3200068"/>
            <a:ext cx="756000" cy="16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44;p29">
            <a:extLst>
              <a:ext uri="{FF2B5EF4-FFF2-40B4-BE49-F238E27FC236}">
                <a16:creationId xmlns:a16="http://schemas.microsoft.com/office/drawing/2014/main" id="{45A3D1F7-13D4-68DE-34AE-08ED166BF95B}"/>
              </a:ext>
            </a:extLst>
          </p:cNvPr>
          <p:cNvSpPr/>
          <p:nvPr/>
        </p:nvSpPr>
        <p:spPr>
          <a:xfrm>
            <a:off x="5760241" y="4866145"/>
            <a:ext cx="637200" cy="149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45;p29">
            <a:extLst>
              <a:ext uri="{FF2B5EF4-FFF2-40B4-BE49-F238E27FC236}">
                <a16:creationId xmlns:a16="http://schemas.microsoft.com/office/drawing/2014/main" id="{8E2008B8-729B-C4B2-7B14-D6C83DEC71FD}"/>
              </a:ext>
            </a:extLst>
          </p:cNvPr>
          <p:cNvSpPr/>
          <p:nvPr/>
        </p:nvSpPr>
        <p:spPr>
          <a:xfrm>
            <a:off x="5815498" y="2031050"/>
            <a:ext cx="598200" cy="16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47;p29">
            <a:extLst>
              <a:ext uri="{FF2B5EF4-FFF2-40B4-BE49-F238E27FC236}">
                <a16:creationId xmlns:a16="http://schemas.microsoft.com/office/drawing/2014/main" id="{606A4A33-9EE6-A7F3-7261-913D9273DD4A}"/>
              </a:ext>
            </a:extLst>
          </p:cNvPr>
          <p:cNvSpPr/>
          <p:nvPr/>
        </p:nvSpPr>
        <p:spPr>
          <a:xfrm>
            <a:off x="5808571" y="4360569"/>
            <a:ext cx="598200" cy="20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61;p29">
            <a:extLst>
              <a:ext uri="{FF2B5EF4-FFF2-40B4-BE49-F238E27FC236}">
                <a16:creationId xmlns:a16="http://schemas.microsoft.com/office/drawing/2014/main" id="{4C853C5A-D793-36B9-51FC-4225E098CE1F}"/>
              </a:ext>
            </a:extLst>
          </p:cNvPr>
          <p:cNvSpPr/>
          <p:nvPr/>
        </p:nvSpPr>
        <p:spPr>
          <a:xfrm>
            <a:off x="5765071" y="5292679"/>
            <a:ext cx="685200" cy="202800"/>
          </a:xfrm>
          <a:prstGeom prst="roundRect">
            <a:avLst>
              <a:gd name="adj" fmla="val 16667"/>
            </a:avLst>
          </a:prstGeom>
          <a:noFill/>
          <a:ln w="519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62;p29">
            <a:extLst>
              <a:ext uri="{FF2B5EF4-FFF2-40B4-BE49-F238E27FC236}">
                <a16:creationId xmlns:a16="http://schemas.microsoft.com/office/drawing/2014/main" id="{C3E20455-9FC1-619A-AE07-0A71471B962A}"/>
              </a:ext>
            </a:extLst>
          </p:cNvPr>
          <p:cNvSpPr/>
          <p:nvPr/>
        </p:nvSpPr>
        <p:spPr>
          <a:xfrm>
            <a:off x="5340219" y="2721844"/>
            <a:ext cx="1103100" cy="202800"/>
          </a:xfrm>
          <a:prstGeom prst="roundRect">
            <a:avLst>
              <a:gd name="adj" fmla="val 16667"/>
            </a:avLst>
          </a:prstGeom>
          <a:noFill/>
          <a:ln w="519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63;p29">
            <a:extLst>
              <a:ext uri="{FF2B5EF4-FFF2-40B4-BE49-F238E27FC236}">
                <a16:creationId xmlns:a16="http://schemas.microsoft.com/office/drawing/2014/main" id="{C70B4DB8-6CA8-276F-F098-E5D3A3F408B0}"/>
              </a:ext>
            </a:extLst>
          </p:cNvPr>
          <p:cNvSpPr/>
          <p:nvPr/>
        </p:nvSpPr>
        <p:spPr>
          <a:xfrm>
            <a:off x="5387271" y="6009517"/>
            <a:ext cx="1043400" cy="202800"/>
          </a:xfrm>
          <a:prstGeom prst="roundRect">
            <a:avLst>
              <a:gd name="adj" fmla="val 16667"/>
            </a:avLst>
          </a:prstGeom>
          <a:noFill/>
          <a:ln w="519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152;p29">
            <a:extLst>
              <a:ext uri="{FF2B5EF4-FFF2-40B4-BE49-F238E27FC236}">
                <a16:creationId xmlns:a16="http://schemas.microsoft.com/office/drawing/2014/main" id="{D8762E52-7E97-2F8D-0AA1-6B6F7DAD747F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3360920" y="5010447"/>
            <a:ext cx="2049726" cy="827969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153;p29">
            <a:extLst>
              <a:ext uri="{FF2B5EF4-FFF2-40B4-BE49-F238E27FC236}">
                <a16:creationId xmlns:a16="http://schemas.microsoft.com/office/drawing/2014/main" id="{4EB83294-58D5-0F52-E469-D4575E7BFEF4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3360920" y="4411943"/>
            <a:ext cx="2368401" cy="568483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154;p29">
            <a:extLst>
              <a:ext uri="{FF2B5EF4-FFF2-40B4-BE49-F238E27FC236}">
                <a16:creationId xmlns:a16="http://schemas.microsoft.com/office/drawing/2014/main" id="{0ECEF58A-B823-8C4E-3583-D9E73AD53967}"/>
              </a:ext>
            </a:extLst>
          </p:cNvPr>
          <p:cNvCxnSpPr>
            <a:cxnSpLocks/>
            <a:stCxn id="37" idx="1"/>
            <a:endCxn id="26" idx="3"/>
          </p:cNvCxnSpPr>
          <p:nvPr/>
        </p:nvCxnSpPr>
        <p:spPr>
          <a:xfrm flipH="1" flipV="1">
            <a:off x="3360920" y="3792439"/>
            <a:ext cx="2447651" cy="669530"/>
          </a:xfrm>
          <a:prstGeom prst="straightConnector1">
            <a:avLst/>
          </a:prstGeom>
          <a:noFill/>
          <a:ln w="28575" cap="flat" cmpd="sng">
            <a:solidFill>
              <a:srgbClr val="3D85C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164;p29">
            <a:extLst>
              <a:ext uri="{FF2B5EF4-FFF2-40B4-BE49-F238E27FC236}">
                <a16:creationId xmlns:a16="http://schemas.microsoft.com/office/drawing/2014/main" id="{39154BCF-F9C1-9FFF-769E-82A19DE07132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3360920" y="2856096"/>
            <a:ext cx="1990601" cy="20314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75134F2-EE17-B4FB-8C60-31A7E9BC8224}"/>
              </a:ext>
            </a:extLst>
          </p:cNvPr>
          <p:cNvSpPr txBox="1"/>
          <p:nvPr/>
        </p:nvSpPr>
        <p:spPr>
          <a:xfrm>
            <a:off x="5188018" y="6635609"/>
            <a:ext cx="4567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Literature Review: Prior findings on Motorcycle Injury Severity</a:t>
            </a:r>
          </a:p>
        </p:txBody>
      </p:sp>
    </p:spTree>
    <p:extLst>
      <p:ext uri="{BB962C8B-B14F-4D97-AF65-F5344CB8AC3E}">
        <p14:creationId xmlns:p14="http://schemas.microsoft.com/office/powerpoint/2010/main" val="298478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913CB-05AD-DF29-8CED-05E7FE85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267482D-F96F-274B-4057-847AB55AC376}"/>
              </a:ext>
            </a:extLst>
          </p:cNvPr>
          <p:cNvSpPr txBox="1"/>
          <p:nvPr/>
        </p:nvSpPr>
        <p:spPr>
          <a:xfrm>
            <a:off x="1235720" y="85061"/>
            <a:ext cx="9718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dk1"/>
                </a:solidFill>
              </a:rPr>
              <a:t>Two research </a:t>
            </a:r>
            <a:r>
              <a:rPr lang="en-US" sz="2800" dirty="0">
                <a:solidFill>
                  <a:schemeClr val="dk1"/>
                </a:solidFill>
              </a:rPr>
              <a:t>questions about </a:t>
            </a:r>
            <a:r>
              <a:rPr lang="en" sz="2800" dirty="0">
                <a:solidFill>
                  <a:schemeClr val="dk1"/>
                </a:solidFill>
              </a:rPr>
              <a:t>p</a:t>
            </a:r>
            <a:r>
              <a:rPr lang="en" sz="2800" dirty="0"/>
              <a:t>redicting motorcycle injury severity using southern California crash data.</a:t>
            </a:r>
            <a:endParaRPr lang="en-US" sz="2800" dirty="0"/>
          </a:p>
          <a:p>
            <a:pPr lvl="0" algn="ctr"/>
            <a:r>
              <a:rPr lang="en-US" sz="2800" dirty="0">
                <a:solidFill>
                  <a:schemeClr val="dk1"/>
                </a:solidFill>
              </a:rPr>
              <a:t>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4B6991-1C60-1F23-3333-C11F67035738}"/>
              </a:ext>
            </a:extLst>
          </p:cNvPr>
          <p:cNvCxnSpPr>
            <a:cxnSpLocks/>
          </p:cNvCxnSpPr>
          <p:nvPr/>
        </p:nvCxnSpPr>
        <p:spPr>
          <a:xfrm>
            <a:off x="-13033" y="1328803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2A68471F-BDA3-336F-87E1-650E88F5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" name="Graphic 1" descr="Handshake with solid fill">
            <a:extLst>
              <a:ext uri="{FF2B5EF4-FFF2-40B4-BE49-F238E27FC236}">
                <a16:creationId xmlns:a16="http://schemas.microsoft.com/office/drawing/2014/main" id="{C96F5EF0-D9EE-23CE-E506-D555EC488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15" y="305778"/>
            <a:ext cx="1279323" cy="116853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30FB0-AB3D-E864-2D69-0A9F11D1F5B7}"/>
              </a:ext>
            </a:extLst>
          </p:cNvPr>
          <p:cNvSpPr txBox="1"/>
          <p:nvPr/>
        </p:nvSpPr>
        <p:spPr>
          <a:xfrm>
            <a:off x="2474110" y="6066953"/>
            <a:ext cx="112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(TIMS, 2025)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0B70B-1165-8A21-8B26-494EA58F3021}"/>
              </a:ext>
            </a:extLst>
          </p:cNvPr>
          <p:cNvSpPr txBox="1"/>
          <p:nvPr/>
        </p:nvSpPr>
        <p:spPr>
          <a:xfrm>
            <a:off x="6756366" y="6066954"/>
            <a:ext cx="4447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(Safe Transportation Research and Education Center, 2025)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1BE9A-36D8-81ED-0D88-5E0BE40B0E2C}"/>
              </a:ext>
            </a:extLst>
          </p:cNvPr>
          <p:cNvSpPr txBox="1"/>
          <p:nvPr/>
        </p:nvSpPr>
        <p:spPr>
          <a:xfrm>
            <a:off x="649029" y="1723640"/>
            <a:ext cx="54271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Q1. </a:t>
            </a:r>
            <a:r>
              <a:rPr lang="en-US" sz="1400" b="1" dirty="0">
                <a:solidFill>
                  <a:schemeClr val="dk1"/>
                </a:solidFill>
              </a:rPr>
              <a:t>Which behavioral, human, environmental, and vehicle factors are associated with severe motorcycle injury outcomes in Southern California crashes?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6992D-33C7-F9E7-5B23-CF4742C9ACE5}"/>
              </a:ext>
            </a:extLst>
          </p:cNvPr>
          <p:cNvSpPr txBox="1"/>
          <p:nvPr/>
        </p:nvSpPr>
        <p:spPr>
          <a:xfrm>
            <a:off x="6257684" y="1723778"/>
            <a:ext cx="542714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Q2. </a:t>
            </a:r>
            <a:r>
              <a:rPr lang="en-US" sz="1400" b="1" dirty="0">
                <a:solidFill>
                  <a:schemeClr val="dk1"/>
                </a:solidFill>
              </a:rPr>
              <a:t>How does the relationship between these factors and injury severity vary across roadway and temporal conditions?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</a:endParaRPr>
          </a:p>
        </p:txBody>
      </p:sp>
      <p:pic>
        <p:nvPicPr>
          <p:cNvPr id="7" name="Google Shape;220;p42">
            <a:extLst>
              <a:ext uri="{FF2B5EF4-FFF2-40B4-BE49-F238E27FC236}">
                <a16:creationId xmlns:a16="http://schemas.microsoft.com/office/drawing/2014/main" id="{2FFF0D37-EF75-C627-60C9-D262BBC770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015" y="2493081"/>
            <a:ext cx="5381150" cy="350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22;p42">
            <a:extLst>
              <a:ext uri="{FF2B5EF4-FFF2-40B4-BE49-F238E27FC236}">
                <a16:creationId xmlns:a16="http://schemas.microsoft.com/office/drawing/2014/main" id="{BF6F2ED8-D3D8-C5F4-0D29-B9F368D3AD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67809" y="2469257"/>
            <a:ext cx="2912063" cy="352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23;p42">
            <a:extLst>
              <a:ext uri="{FF2B5EF4-FFF2-40B4-BE49-F238E27FC236}">
                <a16:creationId xmlns:a16="http://schemas.microsoft.com/office/drawing/2014/main" id="{E6EA9971-4B08-5F31-1AC8-9F736E634AE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9872" y="2469294"/>
            <a:ext cx="2912063" cy="3526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1329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11FBE-E96E-0D1D-1B6D-0A68D5C4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E519A2B-6334-B81F-03DF-7B4937DE6792}"/>
              </a:ext>
            </a:extLst>
          </p:cNvPr>
          <p:cNvSpPr txBox="1"/>
          <p:nvPr/>
        </p:nvSpPr>
        <p:spPr>
          <a:xfrm>
            <a:off x="1235720" y="85061"/>
            <a:ext cx="9718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120689"/>
            </a:pPr>
            <a:r>
              <a:rPr lang="en-US" sz="2800" dirty="0"/>
              <a:t>Data will be drawn from </a:t>
            </a:r>
            <a:r>
              <a:rPr lang="en-US" sz="2800" b="1" dirty="0"/>
              <a:t>two sources </a:t>
            </a:r>
            <a:r>
              <a:rPr lang="en-US" sz="2800" dirty="0"/>
              <a:t>and combined to support predicting motorcycle injury severity.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5218AB5-557A-BE1E-F12A-BBA9F5D2E61A}"/>
              </a:ext>
            </a:extLst>
          </p:cNvPr>
          <p:cNvCxnSpPr>
            <a:cxnSpLocks/>
          </p:cNvCxnSpPr>
          <p:nvPr/>
        </p:nvCxnSpPr>
        <p:spPr>
          <a:xfrm>
            <a:off x="-13033" y="1102467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B6B008BB-1D0C-78E3-B79B-BE2D044D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F6E10A-45B3-9B69-4389-43B0992172F7}"/>
              </a:ext>
            </a:extLst>
          </p:cNvPr>
          <p:cNvGrpSpPr/>
          <p:nvPr/>
        </p:nvGrpSpPr>
        <p:grpSpPr>
          <a:xfrm>
            <a:off x="321320" y="124768"/>
            <a:ext cx="914400" cy="914400"/>
            <a:chOff x="8673553" y="4749179"/>
            <a:chExt cx="914400" cy="914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3A16FD74-089E-3843-98C4-F1DB856BB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73553" y="4749179"/>
              <a:ext cx="914400" cy="9144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2CB105E-671E-78C6-7DFA-DB9D50015E02}"/>
                </a:ext>
              </a:extLst>
            </p:cNvPr>
            <p:cNvGrpSpPr/>
            <p:nvPr/>
          </p:nvGrpSpPr>
          <p:grpSpPr>
            <a:xfrm>
              <a:off x="9130753" y="5085945"/>
              <a:ext cx="412997" cy="412997"/>
              <a:chOff x="9685618" y="3974857"/>
              <a:chExt cx="532392" cy="532392"/>
            </a:xfrm>
          </p:grpSpPr>
          <p:pic>
            <p:nvPicPr>
              <p:cNvPr id="7" name="Graphic 6" descr="Checkmark with solid fill">
                <a:extLst>
                  <a:ext uri="{FF2B5EF4-FFF2-40B4-BE49-F238E27FC236}">
                    <a16:creationId xmlns:a16="http://schemas.microsoft.com/office/drawing/2014/main" id="{447FEA4F-ACF1-166E-E68F-763253F14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726012" y="4032468"/>
                <a:ext cx="451603" cy="451603"/>
              </a:xfrm>
              <a:prstGeom prst="rect">
                <a:avLst/>
              </a:prstGeom>
            </p:spPr>
          </p:pic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8C0EF7D-C036-4054-1616-05C26DF2250D}"/>
                  </a:ext>
                </a:extLst>
              </p:cNvPr>
              <p:cNvSpPr/>
              <p:nvPr/>
            </p:nvSpPr>
            <p:spPr>
              <a:xfrm>
                <a:off x="9685618" y="3974857"/>
                <a:ext cx="532392" cy="532392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B6E75EB-66E5-62C7-53BA-C92589A269DB}"/>
              </a:ext>
            </a:extLst>
          </p:cNvPr>
          <p:cNvSpPr/>
          <p:nvPr/>
        </p:nvSpPr>
        <p:spPr>
          <a:xfrm>
            <a:off x="118984" y="1697033"/>
            <a:ext cx="5774680" cy="27670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515B02-57DA-C4B9-1656-D07213C7181F}"/>
              </a:ext>
            </a:extLst>
          </p:cNvPr>
          <p:cNvSpPr/>
          <p:nvPr/>
        </p:nvSpPr>
        <p:spPr>
          <a:xfrm>
            <a:off x="219695" y="1803045"/>
            <a:ext cx="5537555" cy="543523"/>
          </a:xfrm>
          <a:prstGeom prst="rect">
            <a:avLst/>
          </a:prstGeom>
          <a:solidFill>
            <a:srgbClr val="EC5A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Transportation Injury Mapping System (TIMS)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33B12B-5219-F01F-19AD-06826062B554}"/>
              </a:ext>
            </a:extLst>
          </p:cNvPr>
          <p:cNvSpPr/>
          <p:nvPr/>
        </p:nvSpPr>
        <p:spPr>
          <a:xfrm>
            <a:off x="388107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Los Angeles County </a:t>
            </a:r>
          </a:p>
          <a:p>
            <a:pPr algn="ctr"/>
            <a:r>
              <a:rPr lang="en-US" sz="1200" dirty="0"/>
              <a:t>Crash Data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822081-B84F-4786-8E64-F0A4B18261BB}"/>
              </a:ext>
            </a:extLst>
          </p:cNvPr>
          <p:cNvCxnSpPr>
            <a:stCxn id="19" idx="2"/>
          </p:cNvCxnSpPr>
          <p:nvPr/>
        </p:nvCxnSpPr>
        <p:spPr>
          <a:xfrm flipH="1">
            <a:off x="2988472" y="2346568"/>
            <a:ext cx="1" cy="722569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9F44494-666D-AA77-0BD4-0002C2EBC7CD}"/>
              </a:ext>
            </a:extLst>
          </p:cNvPr>
          <p:cNvSpPr/>
          <p:nvPr/>
        </p:nvSpPr>
        <p:spPr>
          <a:xfrm>
            <a:off x="1819415" y="3259117"/>
            <a:ext cx="1048682" cy="10486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 Diego County </a:t>
            </a:r>
          </a:p>
          <a:p>
            <a:pPr algn="ctr"/>
            <a:r>
              <a:rPr lang="en-US" sz="1200" dirty="0"/>
              <a:t>Crash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82F0CF-E7B4-936D-98D7-32B4086A1D40}"/>
              </a:ext>
            </a:extLst>
          </p:cNvPr>
          <p:cNvSpPr/>
          <p:nvPr/>
        </p:nvSpPr>
        <p:spPr>
          <a:xfrm>
            <a:off x="3250723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Riverside</a:t>
            </a:r>
          </a:p>
          <a:p>
            <a:pPr algn="ctr"/>
            <a:r>
              <a:rPr lang="en-US" sz="1200" dirty="0"/>
              <a:t>County </a:t>
            </a:r>
          </a:p>
          <a:p>
            <a:pPr algn="ctr"/>
            <a:r>
              <a:rPr lang="en-US" sz="1200" dirty="0"/>
              <a:t>Crash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6A8A6F-351B-D808-73E6-1B0EFBB3B14D}"/>
              </a:ext>
            </a:extLst>
          </p:cNvPr>
          <p:cNvSpPr/>
          <p:nvPr/>
        </p:nvSpPr>
        <p:spPr>
          <a:xfrm>
            <a:off x="4643025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 Bernardino</a:t>
            </a:r>
          </a:p>
          <a:p>
            <a:pPr algn="ctr"/>
            <a:r>
              <a:rPr lang="en-US" sz="1200" dirty="0"/>
              <a:t>County </a:t>
            </a:r>
          </a:p>
          <a:p>
            <a:pPr algn="ctr"/>
            <a:r>
              <a:rPr lang="en-US" sz="1200" dirty="0"/>
              <a:t>Crash Data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6423FF-0F24-A6E9-8336-38AC8C489134}"/>
              </a:ext>
            </a:extLst>
          </p:cNvPr>
          <p:cNvCxnSpPr>
            <a:cxnSpLocks/>
          </p:cNvCxnSpPr>
          <p:nvPr/>
        </p:nvCxnSpPr>
        <p:spPr>
          <a:xfrm flipH="1">
            <a:off x="861013" y="3069137"/>
            <a:ext cx="4342089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3FAEFC-EA7F-783B-94E0-111B160605C8}"/>
              </a:ext>
            </a:extLst>
          </p:cNvPr>
          <p:cNvCxnSpPr>
            <a:cxnSpLocks/>
          </p:cNvCxnSpPr>
          <p:nvPr/>
        </p:nvCxnSpPr>
        <p:spPr>
          <a:xfrm>
            <a:off x="5194197" y="3054348"/>
            <a:ext cx="0" cy="204769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E132A1-C3DD-87B2-244B-D88C5EAD7C8B}"/>
              </a:ext>
            </a:extLst>
          </p:cNvPr>
          <p:cNvCxnSpPr>
            <a:cxnSpLocks/>
          </p:cNvCxnSpPr>
          <p:nvPr/>
        </p:nvCxnSpPr>
        <p:spPr>
          <a:xfrm>
            <a:off x="3775064" y="3069137"/>
            <a:ext cx="0" cy="189980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08CA55-640A-3BBE-AE1F-2D6982DAC9E6}"/>
              </a:ext>
            </a:extLst>
          </p:cNvPr>
          <p:cNvCxnSpPr>
            <a:cxnSpLocks/>
          </p:cNvCxnSpPr>
          <p:nvPr/>
        </p:nvCxnSpPr>
        <p:spPr>
          <a:xfrm>
            <a:off x="2343756" y="3069137"/>
            <a:ext cx="0" cy="189980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429A8C-8C24-1287-B5A6-30D9B48EA29E}"/>
              </a:ext>
            </a:extLst>
          </p:cNvPr>
          <p:cNvCxnSpPr>
            <a:cxnSpLocks/>
          </p:cNvCxnSpPr>
          <p:nvPr/>
        </p:nvCxnSpPr>
        <p:spPr>
          <a:xfrm>
            <a:off x="871158" y="3056731"/>
            <a:ext cx="0" cy="205006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8ECFA0-8BE5-949C-BC47-9F3DD5EEB1C6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1436789" y="3783458"/>
            <a:ext cx="382626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067D402-0183-24B4-BCEB-5C68E301D5D6}"/>
              </a:ext>
            </a:extLst>
          </p:cNvPr>
          <p:cNvCxnSpPr>
            <a:cxnSpLocks/>
          </p:cNvCxnSpPr>
          <p:nvPr/>
        </p:nvCxnSpPr>
        <p:spPr>
          <a:xfrm flipH="1">
            <a:off x="2868097" y="3782316"/>
            <a:ext cx="382626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0FED87A-5EDE-DADF-325B-B79FB319630B}"/>
              </a:ext>
            </a:extLst>
          </p:cNvPr>
          <p:cNvCxnSpPr>
            <a:cxnSpLocks/>
          </p:cNvCxnSpPr>
          <p:nvPr/>
        </p:nvCxnSpPr>
        <p:spPr>
          <a:xfrm flipH="1">
            <a:off x="4299405" y="3780032"/>
            <a:ext cx="343620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E185A42-74D9-D252-6AAA-749EA3805EA3}"/>
              </a:ext>
            </a:extLst>
          </p:cNvPr>
          <p:cNvCxnSpPr>
            <a:cxnSpLocks/>
          </p:cNvCxnSpPr>
          <p:nvPr/>
        </p:nvCxnSpPr>
        <p:spPr>
          <a:xfrm flipV="1">
            <a:off x="861013" y="4307799"/>
            <a:ext cx="0" cy="384851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D985003-39E9-BC81-7AD2-97BBC975A92B}"/>
              </a:ext>
            </a:extLst>
          </p:cNvPr>
          <p:cNvCxnSpPr>
            <a:cxnSpLocks/>
          </p:cNvCxnSpPr>
          <p:nvPr/>
        </p:nvCxnSpPr>
        <p:spPr>
          <a:xfrm flipH="1">
            <a:off x="849727" y="4678070"/>
            <a:ext cx="5127211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84ABF94-5EAA-CED5-E609-BE6493DCF489}"/>
              </a:ext>
            </a:extLst>
          </p:cNvPr>
          <p:cNvCxnSpPr/>
          <p:nvPr/>
        </p:nvCxnSpPr>
        <p:spPr>
          <a:xfrm flipH="1">
            <a:off x="5969794" y="4676484"/>
            <a:ext cx="1" cy="722569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3586DD11-7491-726B-FAB9-A9CD682766BC}"/>
              </a:ext>
            </a:extLst>
          </p:cNvPr>
          <p:cNvSpPr/>
          <p:nvPr/>
        </p:nvSpPr>
        <p:spPr>
          <a:xfrm>
            <a:off x="6088990" y="1697033"/>
            <a:ext cx="5774680" cy="27670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7C5293B-7BCB-3530-03B1-F6E5B608D422}"/>
              </a:ext>
            </a:extLst>
          </p:cNvPr>
          <p:cNvSpPr/>
          <p:nvPr/>
        </p:nvSpPr>
        <p:spPr>
          <a:xfrm>
            <a:off x="6189701" y="1803045"/>
            <a:ext cx="5537555" cy="543523"/>
          </a:xfrm>
          <a:prstGeom prst="rect">
            <a:avLst/>
          </a:prstGeom>
          <a:solidFill>
            <a:srgbClr val="EC5A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California DMV County Motorcycle Registrations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58AEEFC-AA4D-1EE1-8E2E-75EA6EC03F3C}"/>
              </a:ext>
            </a:extLst>
          </p:cNvPr>
          <p:cNvSpPr/>
          <p:nvPr/>
        </p:nvSpPr>
        <p:spPr>
          <a:xfrm>
            <a:off x="6358113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Los Angeles County Motorcycle Registrations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12C5EEC-5601-B182-9F95-A0FB2C35E036}"/>
              </a:ext>
            </a:extLst>
          </p:cNvPr>
          <p:cNvCxnSpPr>
            <a:stCxn id="94" idx="2"/>
          </p:cNvCxnSpPr>
          <p:nvPr/>
        </p:nvCxnSpPr>
        <p:spPr>
          <a:xfrm flipH="1">
            <a:off x="8958478" y="2346568"/>
            <a:ext cx="1" cy="722569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05DA84B5-AE22-2874-39D9-4D09969BCB12}"/>
              </a:ext>
            </a:extLst>
          </p:cNvPr>
          <p:cNvSpPr/>
          <p:nvPr/>
        </p:nvSpPr>
        <p:spPr>
          <a:xfrm>
            <a:off x="7789421" y="3259117"/>
            <a:ext cx="1048682" cy="10486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San Diego County Motorcycle Registrations 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32F3B81-C05C-E701-CC89-8B5EEE22290E}"/>
              </a:ext>
            </a:extLst>
          </p:cNvPr>
          <p:cNvSpPr/>
          <p:nvPr/>
        </p:nvSpPr>
        <p:spPr>
          <a:xfrm>
            <a:off x="9220729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Riverside County Motorcycle Registrations 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E293F4B-95F7-4E2A-C46F-A128893CD57D}"/>
              </a:ext>
            </a:extLst>
          </p:cNvPr>
          <p:cNvSpPr/>
          <p:nvPr/>
        </p:nvSpPr>
        <p:spPr>
          <a:xfrm>
            <a:off x="10613031" y="3259117"/>
            <a:ext cx="1048682" cy="10486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San Bernardino County Motorcycle Registrations 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BE19B3F-9DFC-EC67-0212-060CF012DDD8}"/>
              </a:ext>
            </a:extLst>
          </p:cNvPr>
          <p:cNvCxnSpPr>
            <a:cxnSpLocks/>
          </p:cNvCxnSpPr>
          <p:nvPr/>
        </p:nvCxnSpPr>
        <p:spPr>
          <a:xfrm flipH="1">
            <a:off x="6831019" y="3069137"/>
            <a:ext cx="4342089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0CCAE38-1E86-2F9E-ADE3-7CE28DA6B8D7}"/>
              </a:ext>
            </a:extLst>
          </p:cNvPr>
          <p:cNvCxnSpPr>
            <a:cxnSpLocks/>
          </p:cNvCxnSpPr>
          <p:nvPr/>
        </p:nvCxnSpPr>
        <p:spPr>
          <a:xfrm>
            <a:off x="11164203" y="3054348"/>
            <a:ext cx="0" cy="204769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75C1250-10C3-8DF5-B4A1-8986B5D14859}"/>
              </a:ext>
            </a:extLst>
          </p:cNvPr>
          <p:cNvCxnSpPr>
            <a:cxnSpLocks/>
          </p:cNvCxnSpPr>
          <p:nvPr/>
        </p:nvCxnSpPr>
        <p:spPr>
          <a:xfrm>
            <a:off x="9745070" y="3069137"/>
            <a:ext cx="0" cy="189980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02961FA-56F7-D21B-BDE3-5186C82E8369}"/>
              </a:ext>
            </a:extLst>
          </p:cNvPr>
          <p:cNvCxnSpPr>
            <a:cxnSpLocks/>
          </p:cNvCxnSpPr>
          <p:nvPr/>
        </p:nvCxnSpPr>
        <p:spPr>
          <a:xfrm>
            <a:off x="8313762" y="3069137"/>
            <a:ext cx="0" cy="189980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132E195-F254-9AD8-A6B9-E97C704EE2D6}"/>
              </a:ext>
            </a:extLst>
          </p:cNvPr>
          <p:cNvCxnSpPr>
            <a:cxnSpLocks/>
          </p:cNvCxnSpPr>
          <p:nvPr/>
        </p:nvCxnSpPr>
        <p:spPr>
          <a:xfrm>
            <a:off x="6841164" y="3056731"/>
            <a:ext cx="0" cy="205006"/>
          </a:xfrm>
          <a:prstGeom prst="straightConnector1">
            <a:avLst/>
          </a:prstGeom>
          <a:ln w="28575">
            <a:solidFill>
              <a:srgbClr val="EC5A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2B536B8-4C10-AA89-7EBD-C9AD94011E63}"/>
              </a:ext>
            </a:extLst>
          </p:cNvPr>
          <p:cNvCxnSpPr>
            <a:cxnSpLocks/>
            <a:stCxn id="97" idx="1"/>
          </p:cNvCxnSpPr>
          <p:nvPr/>
        </p:nvCxnSpPr>
        <p:spPr>
          <a:xfrm flipH="1">
            <a:off x="7406795" y="3783458"/>
            <a:ext cx="382626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8A0FB63-D43D-0B67-9E0F-F9C39126361E}"/>
              </a:ext>
            </a:extLst>
          </p:cNvPr>
          <p:cNvCxnSpPr>
            <a:cxnSpLocks/>
          </p:cNvCxnSpPr>
          <p:nvPr/>
        </p:nvCxnSpPr>
        <p:spPr>
          <a:xfrm flipH="1">
            <a:off x="8838103" y="3782316"/>
            <a:ext cx="382626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277257F-5B9A-0605-ACAB-F2CACF045C30}"/>
              </a:ext>
            </a:extLst>
          </p:cNvPr>
          <p:cNvCxnSpPr>
            <a:cxnSpLocks/>
          </p:cNvCxnSpPr>
          <p:nvPr/>
        </p:nvCxnSpPr>
        <p:spPr>
          <a:xfrm flipH="1">
            <a:off x="10269411" y="3780032"/>
            <a:ext cx="343620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C77D754-73AF-9699-80DD-75AF3EA674DD}"/>
              </a:ext>
            </a:extLst>
          </p:cNvPr>
          <p:cNvCxnSpPr>
            <a:cxnSpLocks/>
          </p:cNvCxnSpPr>
          <p:nvPr/>
        </p:nvCxnSpPr>
        <p:spPr>
          <a:xfrm flipV="1">
            <a:off x="11190641" y="4340225"/>
            <a:ext cx="0" cy="34925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53F3CB5-67B5-507C-5F64-D710730C5880}"/>
              </a:ext>
            </a:extLst>
          </p:cNvPr>
          <p:cNvCxnSpPr>
            <a:cxnSpLocks/>
          </p:cNvCxnSpPr>
          <p:nvPr/>
        </p:nvCxnSpPr>
        <p:spPr>
          <a:xfrm flipH="1">
            <a:off x="5969794" y="4678864"/>
            <a:ext cx="5220847" cy="0"/>
          </a:xfrm>
          <a:prstGeom prst="line">
            <a:avLst/>
          </a:prstGeom>
          <a:ln w="28575">
            <a:solidFill>
              <a:srgbClr val="EC5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72B336F-614C-0836-3D83-F861FE08D6C9}"/>
              </a:ext>
            </a:extLst>
          </p:cNvPr>
          <p:cNvSpPr/>
          <p:nvPr/>
        </p:nvSpPr>
        <p:spPr>
          <a:xfrm>
            <a:off x="4231930" y="5423427"/>
            <a:ext cx="3490015" cy="742945"/>
          </a:xfrm>
          <a:prstGeom prst="rect">
            <a:avLst/>
          </a:prstGeom>
          <a:solidFill>
            <a:srgbClr val="43A1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 Dataset</a:t>
            </a:r>
          </a:p>
        </p:txBody>
      </p:sp>
      <p:pic>
        <p:nvPicPr>
          <p:cNvPr id="124" name="Graphic 123" descr="Badge 1 with solid fill">
            <a:extLst>
              <a:ext uri="{FF2B5EF4-FFF2-40B4-BE49-F238E27FC236}">
                <a16:creationId xmlns:a16="http://schemas.microsoft.com/office/drawing/2014/main" id="{BB541E33-1740-F971-A188-E4867180D4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95272" y="1118380"/>
            <a:ext cx="586400" cy="586400"/>
          </a:xfrm>
          <a:prstGeom prst="rect">
            <a:avLst/>
          </a:prstGeom>
        </p:spPr>
      </p:pic>
      <p:pic>
        <p:nvPicPr>
          <p:cNvPr id="127" name="Graphic 126" descr="Badge with solid fill">
            <a:extLst>
              <a:ext uri="{FF2B5EF4-FFF2-40B4-BE49-F238E27FC236}">
                <a16:creationId xmlns:a16="http://schemas.microsoft.com/office/drawing/2014/main" id="{0A12BFE8-CE60-BF99-1F25-833A421B83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65340" y="1106535"/>
            <a:ext cx="611831" cy="61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5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DA90-8D43-DF4A-22E1-7CCFA0EA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4463788-E415-A679-3475-5A87B9613BD5}"/>
              </a:ext>
            </a:extLst>
          </p:cNvPr>
          <p:cNvSpPr txBox="1"/>
          <p:nvPr/>
        </p:nvSpPr>
        <p:spPr>
          <a:xfrm>
            <a:off x="1235720" y="85061"/>
            <a:ext cx="9718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120689"/>
            </a:pPr>
            <a:r>
              <a:rPr lang="en-US" sz="2800" dirty="0"/>
              <a:t>Key variables from the combined dataset define the injury severity outcome and predictor categories.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2DC4A3B-410A-EC42-8855-547A04C22A2F}"/>
              </a:ext>
            </a:extLst>
          </p:cNvPr>
          <p:cNvCxnSpPr>
            <a:cxnSpLocks/>
          </p:cNvCxnSpPr>
          <p:nvPr/>
        </p:nvCxnSpPr>
        <p:spPr>
          <a:xfrm>
            <a:off x="-13033" y="1153267"/>
            <a:ext cx="12194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C065EC22-A388-D21A-0FDE-5C0D7306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9D384-533B-4C4E-B660-F861AA07D173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0DE76-24F4-8DAD-3A8F-FEDE48AAC158}"/>
              </a:ext>
            </a:extLst>
          </p:cNvPr>
          <p:cNvSpPr txBox="1"/>
          <p:nvPr/>
        </p:nvSpPr>
        <p:spPr>
          <a:xfrm>
            <a:off x="1941473" y="6548047"/>
            <a:ext cx="112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(TIMS, 2025)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8A4A5-0774-0528-5C5C-838DC5328CD5}"/>
              </a:ext>
            </a:extLst>
          </p:cNvPr>
          <p:cNvSpPr txBox="1"/>
          <p:nvPr/>
        </p:nvSpPr>
        <p:spPr>
          <a:xfrm>
            <a:off x="6747750" y="6548048"/>
            <a:ext cx="4447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(Safe Transportation Research and Education Center, 2025)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883F59-25BA-B11F-07D8-00D41BBA1E48}"/>
              </a:ext>
            </a:extLst>
          </p:cNvPr>
          <p:cNvGrpSpPr/>
          <p:nvPr/>
        </p:nvGrpSpPr>
        <p:grpSpPr>
          <a:xfrm>
            <a:off x="330736" y="44329"/>
            <a:ext cx="958238" cy="923791"/>
            <a:chOff x="9604455" y="3015526"/>
            <a:chExt cx="958238" cy="9237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0" name="Graphic 9" descr="Open folder with solid fill">
              <a:extLst>
                <a:ext uri="{FF2B5EF4-FFF2-40B4-BE49-F238E27FC236}">
                  <a16:creationId xmlns:a16="http://schemas.microsoft.com/office/drawing/2014/main" id="{4AB5A236-FCAB-1FC8-9FC6-A113BB28B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4455" y="3015526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Single gear with solid fill">
              <a:extLst>
                <a:ext uri="{FF2B5EF4-FFF2-40B4-BE49-F238E27FC236}">
                  <a16:creationId xmlns:a16="http://schemas.microsoft.com/office/drawing/2014/main" id="{E896A044-558D-0DA0-7349-FDF0FAA2B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81318" y="3357942"/>
              <a:ext cx="581375" cy="5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6503833"/>
      </p:ext>
    </p:extLst>
  </p:cSld>
  <p:clrMapOvr>
    <a:masterClrMapping/>
  </p:clrMapOvr>
</p:sld>
</file>

<file path=ppt/theme/theme1.xml><?xml version="1.0" encoding="utf-8"?>
<a:theme xmlns:a="http://schemas.openxmlformats.org/drawingml/2006/main" name="LinesVTI">
  <a:themeElements>
    <a:clrScheme name="Lines">
      <a:dk1>
        <a:sysClr val="windowText" lastClr="000000"/>
      </a:dk1>
      <a:lt1>
        <a:sysClr val="window" lastClr="FFFFFF"/>
      </a:lt1>
      <a:dk2>
        <a:srgbClr val="592F34"/>
      </a:dk2>
      <a:lt2>
        <a:srgbClr val="F8EFE3"/>
      </a:lt2>
      <a:accent1>
        <a:srgbClr val="5B8E96"/>
      </a:accent1>
      <a:accent2>
        <a:srgbClr val="B09BA2"/>
      </a:accent2>
      <a:accent3>
        <a:srgbClr val="E3835D"/>
      </a:accent3>
      <a:accent4>
        <a:srgbClr val="7B99DB"/>
      </a:accent4>
      <a:accent5>
        <a:srgbClr val="D09245"/>
      </a:accent5>
      <a:accent6>
        <a:srgbClr val="96A82C"/>
      </a:accent6>
      <a:hlink>
        <a:srgbClr val="5B8E96"/>
      </a:hlink>
      <a:folHlink>
        <a:srgbClr val="B5826E"/>
      </a:folHlink>
    </a:clrScheme>
    <a:fontScheme name="NH Grotesk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nesVTI" id="{6E3869FE-86F4-49DA-A8B9-3320C89167F7}" vid="{3A76BC48-4881-4AE8-821D-8B9CC9A08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F385A6-90D1-4246-A193-382B2C8F34C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4A0FC17-6D95-4BFD-9301-29FBF212A9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C540FE-D34E-41EA-86FE-91E5E95D30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</TotalTime>
  <Words>389</Words>
  <Application>Microsoft Office PowerPoint</Application>
  <PresentationFormat>Widescreen</PresentationFormat>
  <Paragraphs>67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Neue Haas Grotesk Text Pro</vt:lpstr>
      <vt:lpstr>Wingdings 2</vt:lpstr>
      <vt:lpstr>LinesVTI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Jeremiah Snipes</dc:creator>
  <cp:lastModifiedBy>Jeremiah Snipes</cp:lastModifiedBy>
  <cp:revision>50</cp:revision>
  <dcterms:created xsi:type="dcterms:W3CDTF">2026-01-27T14:08:00Z</dcterms:created>
  <dcterms:modified xsi:type="dcterms:W3CDTF">2026-01-27T22:48:06Z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