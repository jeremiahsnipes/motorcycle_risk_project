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9144000" cy="5143500" type="screen16x9"/>
  <p:notesSz cx="6858000" cy="9144000"/>
  <p:embeddedFontLst>
    <p:embeddedFont>
      <p:font typeface="Oswald" panose="00000500000000000000" pitchFamily="2" charset="0"/>
      <p:regular r:id="rId12"/>
      <p:bold r:id="rId13"/>
    </p:embeddedFont>
    <p:embeddedFont>
      <p:font typeface="Roboto" panose="02000000000000000000" pitchFamily="2" charset="0"/>
      <p:regular r:id="rId14"/>
      <p:bold r:id="rId15"/>
      <p:italic r:id="rId16"/>
      <p:boldItalic r:id="rId1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2293" autoAdjust="0"/>
  </p:normalViewPr>
  <p:slideViewPr>
    <p:cSldViewPr snapToGrid="0">
      <p:cViewPr varScale="1">
        <p:scale>
          <a:sx n="173" d="100"/>
          <a:sy n="173" d="100"/>
        </p:scale>
        <p:origin x="3972" y="12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3b5b789cbf1_0_3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3b5b789cbf1_0_3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Edit as needed: Here we map out the structure we’ll be going through for this presentation. We’ll start by explaining why motorcycle safety is an important topic to study, then move into our research questions. From there, we’ll review relevant prior research, describe our data sources, and finally outline the analytical methods we plan to use to answer our questions.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g3b5b789cbf1_0_3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3b5b789cbf1_0_3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Edit as needed: Motorcyclists are considered vulnerable road users because they lack the physical protection available to vehicle occupants. National transportation data consistently show that motorcyclists experience much higher rates of severe injury and fatality per crash compared to passenger vehicles. In California specifically, motorcycles account for a relatively small share of registered vehicles, but a much higher share of serious traffic injuries and deaths. In 2023, there were 583 motorcyclist fatalities, nearly a 19% increase from 2019’s 491 motorcyclist fatalities. Understanding what factors increase the likelihood of severe outcomes can help inform safety interventions, roadway design decisions, and policy efforts aimed at reducing preventable injuries</a:t>
            </a: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3b5b789cbf1_0_3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3b5b789cbf1_0_3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Edit as needed: Our primary research question is; Which factors are most strongly associated with severe or fatal motorcycle crash outcomes in California? Building on that we’ll also be asking; </a:t>
            </a:r>
            <a:r>
              <a:rPr lang="en" sz="1200" dirty="0">
                <a:solidFill>
                  <a:srgbClr val="1F2328"/>
                </a:solidFill>
              </a:rPr>
              <a:t>How does alcohol involvement relate to crash outcomes? Are there spatial patterns or locations with consistently higher motorcycle crash risk? </a:t>
            </a:r>
            <a:r>
              <a:rPr lang="en" dirty="0"/>
              <a:t>These questions are designed to be answered by California crash data and predictive modeling techniques.</a:t>
            </a:r>
            <a:br>
              <a:rPr lang="en" dirty="0"/>
            </a:br>
            <a:br>
              <a:rPr lang="en" dirty="0"/>
            </a:br>
            <a:r>
              <a:rPr lang="en" b="1" dirty="0"/>
              <a:t>01/11/2026 Edit: </a:t>
            </a:r>
          </a:p>
          <a:p>
            <a:pPr marL="0" lvl="0" indent="0" algn="l" rtl="0">
              <a:spcBef>
                <a:spcPts val="0"/>
              </a:spcBef>
              <a:spcAft>
                <a:spcPts val="0"/>
              </a:spcAft>
              <a:buNone/>
            </a:pPr>
            <a:endParaRPr lang="en" b="1" dirty="0"/>
          </a:p>
          <a:p>
            <a:r>
              <a:rPr lang="en-US" b="1" dirty="0"/>
              <a:t>Which observable crash conditions are associated with severe or fatal motorcycle injuries in California?</a:t>
            </a:r>
            <a:endParaRPr lang="en-US" dirty="0"/>
          </a:p>
          <a:p>
            <a:r>
              <a:rPr lang="en-US" b="1" dirty="0"/>
              <a:t>How does injury severity vary across time, location, and roadway context?</a:t>
            </a:r>
            <a:endParaRPr lang="en-US" dirty="0"/>
          </a:p>
          <a:p>
            <a:r>
              <a:rPr lang="en-US" b="1" dirty="0"/>
              <a:t>Can historical Southern California crash data distinguish severe injury outcomes from less severe outcomes?</a:t>
            </a:r>
          </a:p>
          <a:p>
            <a:endParaRPr lang="en-US" b="1" dirty="0"/>
          </a:p>
          <a:p>
            <a:endParaRPr lang="en-US" b="1" dirty="0"/>
          </a:p>
          <a:p>
            <a:pPr marL="158750" indent="0">
              <a:buNone/>
            </a:pPr>
            <a:r>
              <a:rPr lang="en-US" dirty="0"/>
              <a:t>The dataset records several layman-observable crash conditions, including time, location, roadway context, and alcohol involvement, which motivate analysis of injury severity differences.</a:t>
            </a:r>
          </a:p>
          <a:p>
            <a:pPr marL="0" lvl="0" indent="0" algn="l" rtl="0">
              <a:spcBef>
                <a:spcPts val="0"/>
              </a:spcBef>
              <a:spcAft>
                <a:spcPts val="0"/>
              </a:spcAft>
              <a:buNone/>
            </a:pPr>
            <a:endParaRPr b="1"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b5b789cbf1_0_3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3b5b789cbf1_0_3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Edit as needed: Existing research has consistently shown that injury severity in motorcycle crashes is influenced by a combination of human, vehicle, and roadway factors. Early epidemiologic and statistical studies established motorcycle crash severity as a persistent public safety concern and examined relationships between factors such as speed, roadway design, and injury outcomes. More recent research has shifted toward machine learning approaches, which allow for higher predictive accuracy and the ability to capture complex, nonlinear relationships. For example, recent studies using models such as gradient boosting have achieved high accuracy in predicting injury severity and have identified factors like speed limits, roadway type, and crash dynamics as key contributors.</a:t>
            </a:r>
            <a:endParaRPr/>
          </a:p>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3b5b789cbf1_0_3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3b5b789cbf1_0_3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Edit as needed(taken from repo): Our primary data source will be motorcycle involved crash records from the Transportation Injury Mapping System (TIMS), a public crash data platform developed by UC Berkeley Safe Transportation Research and Education Center. </a:t>
            </a:r>
            <a:r>
              <a:rPr lang="en" sz="1200">
                <a:solidFill>
                  <a:srgbClr val="1F2328"/>
                </a:solidFill>
              </a:rPr>
              <a:t>TIMS provides access to motorcycle crash records derived from California’s Statewide Integrated Traffic Records System (SWITRS), the official statewide database of police-reported traffic collisions. SWITRS data originate from California Highway Patrol and local law enforcement collision reports and are updated on a regular basis.</a:t>
            </a:r>
            <a:endParaRPr sz="1200">
              <a:solidFill>
                <a:srgbClr val="1F2328"/>
              </a:solidFill>
            </a:endParaRPr>
          </a:p>
          <a:p>
            <a:pPr marL="0" lvl="0" indent="0" algn="l" rtl="0">
              <a:lnSpc>
                <a:spcPct val="115000"/>
              </a:lnSpc>
              <a:spcBef>
                <a:spcPts val="0"/>
              </a:spcBef>
              <a:spcAft>
                <a:spcPts val="0"/>
              </a:spcAft>
              <a:buClr>
                <a:schemeClr val="dk1"/>
              </a:buClr>
              <a:buSzPts val="1100"/>
              <a:buFont typeface="Arial"/>
              <a:buNone/>
            </a:pPr>
            <a:r>
              <a:rPr lang="en" sz="1200">
                <a:solidFill>
                  <a:srgbClr val="1F2328"/>
                </a:solidFill>
              </a:rPr>
              <a:t>Motorcycle crash records were accessed using the TIMS Motorcycle Crash Map Viewer and filtered by county, crash severity, alcohol involvement, and year. The resulting dataset contains event-level crash records for multiple Southern California counties, including injury severity outcomes, alcohol involvement indicators, roadway and environmental conditions, temporal variables, and geocoded latitude and longitude.</a:t>
            </a:r>
            <a:endParaRPr sz="1200">
              <a:solidFill>
                <a:srgbClr val="1F2328"/>
              </a:solidFill>
            </a:endParaRPr>
          </a:p>
          <a:p>
            <a:pPr marL="0" lvl="0" indent="0" algn="l" rtl="0">
              <a:spcBef>
                <a:spcPts val="120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3b5b789cbf1_0_3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b5b789cbf1_0_3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EAN: This dataset will support our structured analytical pipeline designed to move from raw collision records to prediction of motorcycle crash injury severity. We’ll begin with data cleaning and preprocessing to ensure consistency and completeness across variables. EDA will be utilized to understand distributions, identify patterns, and inform modeling decisions. Injury severity is defined as the primary outcome, allowing this to be framed as a classification task. Predictive modeling will be conducted using logistic regression, and tree based methods to balance interpretability with predictive performance. Model performance will be evaluated using ROC-AUC to assess each models ability to distinguish between severe/non-severe crashes. Finally spatial analysis using geographic metrics will be applied to identify high-risk locations and injury severity hotspots. Together this analytical pipeline ensures that predictions are data-driven, interpretable, and grounded in both statistical and spatial context.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3b5b789cbf1_0_3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3b5b789cbf1_0_3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EAN: To summarize, this project demonstrates that motorcycle crash injury severity in Southern California can be systematically studied and predicted using publicly available crash data and established analytical methods. Prior research shows that crash severity is influenced by multiple interacting factors, including roadway characteristics, environmental conditions, and crash dynamics, which informed both our variable selection and modeling approach. Using California crash data, we proposed a structured analytical pipeline that moves from data cleaning and EDA to injury severity classifications, predictive modeling, and spatial hotspot identification. Logistic regression and tree-based models allows us to balance interpretability with predictive performance, while ROC-AUC provides consistent framework for model evaluation. Incorporating spatial analysis further extends this work by identifying geographic concentrations of severe crashes, supporting the potential for targeted, location-specific safety interventions. Overall, this approach establishes a strong foundation for predictive motorcycle crash severity analysis and future work on improving roadway safety outcomes.</a:t>
            </a: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b5b789cbf1_0_30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 name="Google Shape;160;g3b5b789cbf1_0_3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8" Type="http://schemas.openxmlformats.org/officeDocument/2006/relationships/image" Target="../media/image14.jpg"/><Relationship Id="rId3" Type="http://schemas.openxmlformats.org/officeDocument/2006/relationships/image" Target="../media/image9.png"/><Relationship Id="rId7" Type="http://schemas.openxmlformats.org/officeDocument/2006/relationships/image" Target="../media/image13.jp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2.jpg"/><Relationship Id="rId5" Type="http://schemas.openxmlformats.org/officeDocument/2006/relationships/image" Target="../media/image11.jpg"/><Relationship Id="rId4" Type="http://schemas.openxmlformats.org/officeDocument/2006/relationships/image" Target="../media/image10.jpg"/></Relationships>
</file>

<file path=ppt/slides/_rels/slide8.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hyperlink" Target="https://doi.org/10.1080/15389588.2021.2009115" TargetMode="External"/><Relationship Id="rId7" Type="http://schemas.openxmlformats.org/officeDocument/2006/relationships/hyperlink" Target="https://doi.org/10.1080/15389588.2023.2284111" TargetMode="External"/><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hyperlink" Target="https://safetrec.berkeley.edu/2025-safetrec-traffic-safety-facts-motorcycle-safety" TargetMode="External"/><Relationship Id="rId5" Type="http://schemas.openxmlformats.org/officeDocument/2006/relationships/hyperlink" Target="https://www.ots.ca.gov/grants/motorcycle-safety/" TargetMode="External"/><Relationship Id="rId4" Type="http://schemas.openxmlformats.org/officeDocument/2006/relationships/hyperlink" Target="https://doi.org/10.1016/0001-4575(76)90010-5"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0" y="127838"/>
            <a:ext cx="8520600" cy="1256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3600" dirty="0"/>
              <a:t>Predicting Motorcycle Accident Risk in Southern California</a:t>
            </a:r>
          </a:p>
        </p:txBody>
      </p:sp>
      <p:sp>
        <p:nvSpPr>
          <p:cNvPr id="55" name="Google Shape;55;p13"/>
          <p:cNvSpPr txBox="1">
            <a:spLocks noGrp="1"/>
          </p:cNvSpPr>
          <p:nvPr>
            <p:ph type="subTitle" idx="1"/>
          </p:nvPr>
        </p:nvSpPr>
        <p:spPr>
          <a:xfrm>
            <a:off x="134625" y="2884700"/>
            <a:ext cx="1653000" cy="1946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dk1"/>
                </a:solidFill>
                <a:latin typeface="Oswald"/>
                <a:ea typeface="Oswald"/>
                <a:cs typeface="Oswald"/>
                <a:sym typeface="Oswald"/>
              </a:rPr>
              <a:t>Ed Baek</a:t>
            </a:r>
            <a:endParaRPr sz="1200">
              <a:solidFill>
                <a:schemeClr val="dk1"/>
              </a:solidFill>
              <a:latin typeface="Oswald"/>
              <a:ea typeface="Oswald"/>
              <a:cs typeface="Oswald"/>
              <a:sym typeface="Oswald"/>
            </a:endParaRPr>
          </a:p>
          <a:p>
            <a:pPr marL="0" lvl="0" indent="0" algn="ctr" rtl="0">
              <a:spcBef>
                <a:spcPts val="0"/>
              </a:spcBef>
              <a:spcAft>
                <a:spcPts val="0"/>
              </a:spcAft>
              <a:buNone/>
            </a:pPr>
            <a:r>
              <a:rPr lang="en" sz="1200">
                <a:solidFill>
                  <a:schemeClr val="dk1"/>
                </a:solidFill>
                <a:latin typeface="Oswald"/>
                <a:ea typeface="Oswald"/>
                <a:cs typeface="Oswald"/>
                <a:sym typeface="Oswald"/>
              </a:rPr>
              <a:t>Amber Garcia</a:t>
            </a:r>
            <a:endParaRPr sz="1200">
              <a:solidFill>
                <a:schemeClr val="dk1"/>
              </a:solidFill>
              <a:latin typeface="Oswald"/>
              <a:ea typeface="Oswald"/>
              <a:cs typeface="Oswald"/>
              <a:sym typeface="Oswald"/>
            </a:endParaRPr>
          </a:p>
          <a:p>
            <a:pPr marL="0" lvl="0" indent="0" algn="ctr" rtl="0">
              <a:spcBef>
                <a:spcPts val="0"/>
              </a:spcBef>
              <a:spcAft>
                <a:spcPts val="0"/>
              </a:spcAft>
              <a:buNone/>
            </a:pPr>
            <a:r>
              <a:rPr lang="en" sz="1200">
                <a:solidFill>
                  <a:schemeClr val="dk1"/>
                </a:solidFill>
                <a:latin typeface="Oswald"/>
                <a:ea typeface="Oswald"/>
                <a:cs typeface="Oswald"/>
                <a:sym typeface="Oswald"/>
              </a:rPr>
              <a:t>Ryan Neighbor</a:t>
            </a:r>
            <a:endParaRPr sz="1200">
              <a:solidFill>
                <a:schemeClr val="dk1"/>
              </a:solidFill>
              <a:latin typeface="Oswald"/>
              <a:ea typeface="Oswald"/>
              <a:cs typeface="Oswald"/>
              <a:sym typeface="Oswald"/>
            </a:endParaRPr>
          </a:p>
          <a:p>
            <a:pPr marL="0" lvl="0" indent="0" algn="ctr" rtl="0">
              <a:spcBef>
                <a:spcPts val="0"/>
              </a:spcBef>
              <a:spcAft>
                <a:spcPts val="0"/>
              </a:spcAft>
              <a:buNone/>
            </a:pPr>
            <a:r>
              <a:rPr lang="en" sz="1200">
                <a:solidFill>
                  <a:schemeClr val="dk1"/>
                </a:solidFill>
                <a:latin typeface="Oswald"/>
                <a:ea typeface="Oswald"/>
                <a:cs typeface="Oswald"/>
                <a:sym typeface="Oswald"/>
              </a:rPr>
              <a:t>Jeremia Snipes</a:t>
            </a:r>
            <a:endParaRPr sz="1200">
              <a:solidFill>
                <a:schemeClr val="dk1"/>
              </a:solidFill>
              <a:latin typeface="Oswald"/>
              <a:ea typeface="Oswald"/>
              <a:cs typeface="Oswald"/>
              <a:sym typeface="Oswald"/>
            </a:endParaRPr>
          </a:p>
          <a:p>
            <a:pPr marL="0" lvl="0" indent="0" algn="ctr" rtl="0">
              <a:spcBef>
                <a:spcPts val="0"/>
              </a:spcBef>
              <a:spcAft>
                <a:spcPts val="0"/>
              </a:spcAft>
              <a:buNone/>
            </a:pPr>
            <a:endParaRPr sz="1200">
              <a:solidFill>
                <a:schemeClr val="dk1"/>
              </a:solidFill>
              <a:latin typeface="Oswald"/>
              <a:ea typeface="Oswald"/>
              <a:cs typeface="Oswald"/>
              <a:sym typeface="Oswald"/>
            </a:endParaRPr>
          </a:p>
          <a:p>
            <a:pPr marL="0" lvl="0" indent="0" algn="ctr" rtl="0">
              <a:spcBef>
                <a:spcPts val="0"/>
              </a:spcBef>
              <a:spcAft>
                <a:spcPts val="0"/>
              </a:spcAft>
              <a:buNone/>
            </a:pPr>
            <a:r>
              <a:rPr lang="en" sz="1200">
                <a:solidFill>
                  <a:schemeClr val="dk1"/>
                </a:solidFill>
                <a:latin typeface="Oswald"/>
                <a:ea typeface="Oswald"/>
                <a:cs typeface="Oswald"/>
                <a:sym typeface="Oswald"/>
              </a:rPr>
              <a:t>National University</a:t>
            </a:r>
            <a:endParaRPr sz="1200">
              <a:solidFill>
                <a:schemeClr val="dk1"/>
              </a:solidFill>
              <a:latin typeface="Oswald"/>
              <a:ea typeface="Oswald"/>
              <a:cs typeface="Oswald"/>
              <a:sym typeface="Oswald"/>
            </a:endParaRPr>
          </a:p>
          <a:p>
            <a:pPr marL="0" lvl="0" indent="0" algn="ctr" rtl="0">
              <a:spcBef>
                <a:spcPts val="0"/>
              </a:spcBef>
              <a:spcAft>
                <a:spcPts val="0"/>
              </a:spcAft>
              <a:buNone/>
            </a:pPr>
            <a:r>
              <a:rPr lang="en" sz="1200">
                <a:solidFill>
                  <a:schemeClr val="dk1"/>
                </a:solidFill>
                <a:latin typeface="Oswald"/>
                <a:ea typeface="Oswald"/>
                <a:cs typeface="Oswald"/>
                <a:sym typeface="Oswald"/>
              </a:rPr>
              <a:t>ANA699 </a:t>
            </a:r>
            <a:endParaRPr sz="1200">
              <a:solidFill>
                <a:schemeClr val="dk1"/>
              </a:solidFill>
              <a:latin typeface="Oswald"/>
              <a:ea typeface="Oswald"/>
              <a:cs typeface="Oswald"/>
              <a:sym typeface="Oswald"/>
            </a:endParaRPr>
          </a:p>
          <a:p>
            <a:pPr marL="0" lvl="0" indent="0" algn="ctr" rtl="0">
              <a:spcBef>
                <a:spcPts val="0"/>
              </a:spcBef>
              <a:spcAft>
                <a:spcPts val="0"/>
              </a:spcAft>
              <a:buNone/>
            </a:pPr>
            <a:r>
              <a:rPr lang="en" sz="1200">
                <a:solidFill>
                  <a:schemeClr val="dk1"/>
                </a:solidFill>
                <a:latin typeface="Oswald"/>
                <a:ea typeface="Oswald"/>
                <a:cs typeface="Oswald"/>
                <a:sym typeface="Oswald"/>
              </a:rPr>
              <a:t>January 08, 2026</a:t>
            </a:r>
            <a:endParaRPr sz="1200">
              <a:solidFill>
                <a:schemeClr val="dk1"/>
              </a:solidFill>
              <a:latin typeface="Oswald"/>
              <a:ea typeface="Oswald"/>
              <a:cs typeface="Oswald"/>
              <a:sym typeface="Oswald"/>
            </a:endParaRPr>
          </a:p>
          <a:p>
            <a:pPr marL="0" lvl="0" indent="0" algn="ctr" rtl="0">
              <a:spcBef>
                <a:spcPts val="0"/>
              </a:spcBef>
              <a:spcAft>
                <a:spcPts val="0"/>
              </a:spcAft>
              <a:buNone/>
            </a:pPr>
            <a:r>
              <a:rPr lang="en" sz="1200">
                <a:solidFill>
                  <a:schemeClr val="dk1"/>
                </a:solidFill>
                <a:latin typeface="Oswald"/>
                <a:ea typeface="Oswald"/>
                <a:cs typeface="Oswald"/>
                <a:sym typeface="Oswald"/>
              </a:rPr>
              <a:t>Dr. Mario Missakian</a:t>
            </a:r>
            <a:endParaRPr sz="1200">
              <a:solidFill>
                <a:schemeClr val="dk1"/>
              </a:solidFill>
              <a:latin typeface="Oswald"/>
              <a:ea typeface="Oswald"/>
              <a:cs typeface="Oswald"/>
              <a:sym typeface="Oswald"/>
            </a:endParaRPr>
          </a:p>
        </p:txBody>
      </p:sp>
      <p:pic>
        <p:nvPicPr>
          <p:cNvPr id="5" name="Picture 4">
            <a:extLst>
              <a:ext uri="{FF2B5EF4-FFF2-40B4-BE49-F238E27FC236}">
                <a16:creationId xmlns:a16="http://schemas.microsoft.com/office/drawing/2014/main" id="{E09A10F4-AE57-46BA-4E34-00CEE98984DC}"/>
              </a:ext>
            </a:extLst>
          </p:cNvPr>
          <p:cNvPicPr>
            <a:picLocks noChangeAspect="1"/>
          </p:cNvPicPr>
          <p:nvPr/>
        </p:nvPicPr>
        <p:blipFill>
          <a:blip r:embed="rId3"/>
          <a:stretch>
            <a:fillRect/>
          </a:stretch>
        </p:blipFill>
        <p:spPr>
          <a:xfrm>
            <a:off x="1769639" y="1279999"/>
            <a:ext cx="5604721" cy="378126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14"/>
          <p:cNvSpPr txBox="1">
            <a:spLocks noGrp="1"/>
          </p:cNvSpPr>
          <p:nvPr>
            <p:ph type="title"/>
          </p:nvPr>
        </p:nvSpPr>
        <p:spPr>
          <a:xfrm>
            <a:off x="311700" y="74025"/>
            <a:ext cx="8520600" cy="971400"/>
          </a:xfrm>
          <a:prstGeom prst="rect">
            <a:avLst/>
          </a:prstGeom>
        </p:spPr>
        <p:txBody>
          <a:bodyPr spcFirstLastPara="1" wrap="square" lIns="91425" tIns="91425" rIns="91425" bIns="91425" anchor="t" anchorCtr="0">
            <a:normAutofit/>
          </a:bodyPr>
          <a:lstStyle/>
          <a:p>
            <a:pPr marL="0" lvl="0" indent="0" algn="ctr" rtl="0">
              <a:lnSpc>
                <a:spcPct val="115000"/>
              </a:lnSpc>
              <a:spcBef>
                <a:spcPts val="1200"/>
              </a:spcBef>
              <a:spcAft>
                <a:spcPts val="0"/>
              </a:spcAft>
              <a:buNone/>
            </a:pPr>
            <a:r>
              <a:rPr lang="en-US" dirty="0"/>
              <a:t>Overview of the Presentation</a:t>
            </a:r>
            <a:endParaRPr dirty="0"/>
          </a:p>
        </p:txBody>
      </p:sp>
      <p:grpSp>
        <p:nvGrpSpPr>
          <p:cNvPr id="63" name="Google Shape;63;p14"/>
          <p:cNvGrpSpPr/>
          <p:nvPr/>
        </p:nvGrpSpPr>
        <p:grpSpPr>
          <a:xfrm>
            <a:off x="220213" y="2323871"/>
            <a:ext cx="2064007" cy="3304529"/>
            <a:chOff x="0" y="1189989"/>
            <a:chExt cx="2214600" cy="3305851"/>
          </a:xfrm>
        </p:grpSpPr>
        <p:sp>
          <p:nvSpPr>
            <p:cNvPr id="64" name="Google Shape;64;p14"/>
            <p:cNvSpPr/>
            <p:nvPr/>
          </p:nvSpPr>
          <p:spPr>
            <a:xfrm>
              <a:off x="0" y="1189989"/>
              <a:ext cx="2214600" cy="669000"/>
            </a:xfrm>
            <a:prstGeom prst="homePlate">
              <a:avLst>
                <a:gd name="adj" fmla="val 50000"/>
              </a:avLst>
            </a:prstGeom>
            <a:solidFill>
              <a:srgbClr val="801F17"/>
            </a:solidFill>
            <a:ln>
              <a:noFill/>
            </a:ln>
          </p:spPr>
          <p:txBody>
            <a:bodyPr spcFirstLastPara="1" wrap="square" lIns="78300" tIns="78300" rIns="78300" bIns="78300" anchor="ctr" anchorCtr="0">
              <a:noAutofit/>
            </a:bodyPr>
            <a:lstStyle/>
            <a:p>
              <a:pPr marL="0" lvl="0" indent="0" algn="ctr" rtl="0">
                <a:spcBef>
                  <a:spcPts val="0"/>
                </a:spcBef>
                <a:spcAft>
                  <a:spcPts val="0"/>
                </a:spcAft>
                <a:buNone/>
              </a:pPr>
              <a:r>
                <a:rPr lang="en-US" sz="1199" dirty="0">
                  <a:solidFill>
                    <a:srgbClr val="FFFFFF"/>
                  </a:solidFill>
                  <a:latin typeface="Roboto"/>
                  <a:ea typeface="Roboto"/>
                  <a:cs typeface="Roboto"/>
                  <a:sym typeface="Roboto"/>
                </a:rPr>
                <a:t>Public safety impact of motorcycle crashes</a:t>
              </a:r>
              <a:endParaRPr sz="1199" dirty="0">
                <a:solidFill>
                  <a:srgbClr val="FFFFFF"/>
                </a:solidFill>
                <a:latin typeface="Roboto"/>
                <a:ea typeface="Roboto"/>
                <a:cs typeface="Roboto"/>
                <a:sym typeface="Roboto"/>
              </a:endParaRPr>
            </a:p>
          </p:txBody>
        </p:sp>
        <p:sp>
          <p:nvSpPr>
            <p:cNvPr id="65" name="Google Shape;65;p14"/>
            <p:cNvSpPr txBox="1"/>
            <p:nvPr/>
          </p:nvSpPr>
          <p:spPr>
            <a:xfrm>
              <a:off x="295038" y="2057141"/>
              <a:ext cx="1624500" cy="2438700"/>
            </a:xfrm>
            <a:prstGeom prst="rect">
              <a:avLst/>
            </a:prstGeom>
            <a:noFill/>
            <a:ln>
              <a:noFill/>
            </a:ln>
          </p:spPr>
          <p:txBody>
            <a:bodyPr spcFirstLastPara="1" wrap="square" lIns="78300" tIns="78300" rIns="78300" bIns="78300" anchor="t" anchorCtr="0">
              <a:noAutofit/>
            </a:bodyPr>
            <a:lstStyle/>
            <a:p>
              <a:pPr marL="0" lvl="0" indent="0" algn="l" rtl="0">
                <a:lnSpc>
                  <a:spcPct val="115000"/>
                </a:lnSpc>
                <a:spcBef>
                  <a:spcPts val="0"/>
                </a:spcBef>
                <a:spcAft>
                  <a:spcPts val="0"/>
                </a:spcAft>
                <a:buNone/>
              </a:pPr>
              <a:endParaRPr sz="942">
                <a:latin typeface="Roboto"/>
                <a:ea typeface="Roboto"/>
                <a:cs typeface="Roboto"/>
                <a:sym typeface="Roboto"/>
              </a:endParaRPr>
            </a:p>
          </p:txBody>
        </p:sp>
      </p:grpSp>
      <p:grpSp>
        <p:nvGrpSpPr>
          <p:cNvPr id="66" name="Google Shape;66;p14"/>
          <p:cNvGrpSpPr/>
          <p:nvPr/>
        </p:nvGrpSpPr>
        <p:grpSpPr>
          <a:xfrm>
            <a:off x="1899063" y="2323870"/>
            <a:ext cx="2064000" cy="3217850"/>
            <a:chOff x="1838325" y="1189775"/>
            <a:chExt cx="2064000" cy="3217850"/>
          </a:xfrm>
        </p:grpSpPr>
        <p:sp>
          <p:nvSpPr>
            <p:cNvPr id="67" name="Google Shape;67;p14"/>
            <p:cNvSpPr/>
            <p:nvPr/>
          </p:nvSpPr>
          <p:spPr>
            <a:xfrm>
              <a:off x="1838325" y="1189775"/>
              <a:ext cx="2064000" cy="669000"/>
            </a:xfrm>
            <a:prstGeom prst="chevron">
              <a:avLst>
                <a:gd name="adj" fmla="val 50000"/>
              </a:avLst>
            </a:prstGeom>
            <a:solidFill>
              <a:srgbClr val="A7291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dirty="0">
                  <a:solidFill>
                    <a:srgbClr val="FFFFFF"/>
                  </a:solidFill>
                  <a:latin typeface="Roboto"/>
                  <a:ea typeface="Roboto"/>
                  <a:cs typeface="Roboto"/>
                  <a:sym typeface="Roboto"/>
                </a:rPr>
                <a:t>Research questions on injury severity</a:t>
              </a:r>
              <a:endParaRPr dirty="0">
                <a:solidFill>
                  <a:srgbClr val="FFFFFF"/>
                </a:solidFill>
                <a:latin typeface="Roboto"/>
                <a:ea typeface="Roboto"/>
                <a:cs typeface="Roboto"/>
                <a:sym typeface="Roboto"/>
              </a:endParaRPr>
            </a:p>
          </p:txBody>
        </p:sp>
        <p:sp>
          <p:nvSpPr>
            <p:cNvPr id="68" name="Google Shape;68;p14"/>
            <p:cNvSpPr txBox="1"/>
            <p:nvPr/>
          </p:nvSpPr>
          <p:spPr>
            <a:xfrm>
              <a:off x="2017250" y="2057125"/>
              <a:ext cx="1624500" cy="2350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sz="1100">
                <a:latin typeface="Roboto"/>
                <a:ea typeface="Roboto"/>
                <a:cs typeface="Roboto"/>
                <a:sym typeface="Roboto"/>
              </a:endParaRPr>
            </a:p>
          </p:txBody>
        </p:sp>
      </p:grpSp>
      <p:grpSp>
        <p:nvGrpSpPr>
          <p:cNvPr id="69" name="Google Shape;69;p14"/>
          <p:cNvGrpSpPr/>
          <p:nvPr/>
        </p:nvGrpSpPr>
        <p:grpSpPr>
          <a:xfrm>
            <a:off x="3563937" y="2323870"/>
            <a:ext cx="2064000" cy="3217850"/>
            <a:chOff x="3516750" y="1189775"/>
            <a:chExt cx="2064000" cy="3217850"/>
          </a:xfrm>
        </p:grpSpPr>
        <p:sp>
          <p:nvSpPr>
            <p:cNvPr id="70" name="Google Shape;70;p14"/>
            <p:cNvSpPr/>
            <p:nvPr/>
          </p:nvSpPr>
          <p:spPr>
            <a:xfrm>
              <a:off x="3516750" y="1189775"/>
              <a:ext cx="2064000" cy="669000"/>
            </a:xfrm>
            <a:prstGeom prst="chevron">
              <a:avLst>
                <a:gd name="adj" fmla="val 50000"/>
              </a:avLst>
            </a:prstGeom>
            <a:solidFill>
              <a:srgbClr val="B02B2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dirty="0">
                  <a:solidFill>
                    <a:srgbClr val="FFFFFF"/>
                  </a:solidFill>
                  <a:latin typeface="Roboto"/>
                  <a:ea typeface="Roboto"/>
                  <a:cs typeface="Roboto"/>
                  <a:sym typeface="Roboto"/>
                </a:rPr>
                <a:t>Related crash severity research</a:t>
              </a:r>
              <a:endParaRPr dirty="0">
                <a:solidFill>
                  <a:srgbClr val="FFFFFF"/>
                </a:solidFill>
                <a:latin typeface="Roboto"/>
                <a:ea typeface="Roboto"/>
                <a:cs typeface="Roboto"/>
                <a:sym typeface="Roboto"/>
              </a:endParaRPr>
            </a:p>
          </p:txBody>
        </p:sp>
        <p:sp>
          <p:nvSpPr>
            <p:cNvPr id="71" name="Google Shape;71;p14"/>
            <p:cNvSpPr txBox="1"/>
            <p:nvPr/>
          </p:nvSpPr>
          <p:spPr>
            <a:xfrm>
              <a:off x="3739450" y="2057125"/>
              <a:ext cx="1624500" cy="2350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sz="1100">
                <a:latin typeface="Roboto"/>
                <a:ea typeface="Roboto"/>
                <a:cs typeface="Roboto"/>
                <a:sym typeface="Roboto"/>
              </a:endParaRPr>
            </a:p>
          </p:txBody>
        </p:sp>
      </p:grpSp>
      <p:grpSp>
        <p:nvGrpSpPr>
          <p:cNvPr id="72" name="Google Shape;72;p14"/>
          <p:cNvGrpSpPr/>
          <p:nvPr/>
        </p:nvGrpSpPr>
        <p:grpSpPr>
          <a:xfrm>
            <a:off x="6921212" y="2323870"/>
            <a:ext cx="2064000" cy="3217850"/>
            <a:chOff x="6874025" y="1189775"/>
            <a:chExt cx="2064000" cy="3217850"/>
          </a:xfrm>
        </p:grpSpPr>
        <p:sp>
          <p:nvSpPr>
            <p:cNvPr id="73" name="Google Shape;73;p14"/>
            <p:cNvSpPr/>
            <p:nvPr/>
          </p:nvSpPr>
          <p:spPr>
            <a:xfrm>
              <a:off x="6874025" y="1189775"/>
              <a:ext cx="2064000" cy="669000"/>
            </a:xfrm>
            <a:prstGeom prst="chevron">
              <a:avLst>
                <a:gd name="adj" fmla="val 50000"/>
              </a:avLst>
            </a:prstGeom>
            <a:solidFill>
              <a:srgbClr val="D8372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dirty="0">
                  <a:solidFill>
                    <a:srgbClr val="FFFFFF"/>
                  </a:solidFill>
                  <a:latin typeface="Roboto"/>
                  <a:ea typeface="Roboto"/>
                  <a:cs typeface="Roboto"/>
                  <a:sym typeface="Roboto"/>
                </a:rPr>
                <a:t>Proposed analytical approach</a:t>
              </a:r>
              <a:endParaRPr dirty="0">
                <a:solidFill>
                  <a:srgbClr val="FFFFFF"/>
                </a:solidFill>
                <a:latin typeface="Roboto"/>
                <a:ea typeface="Roboto"/>
                <a:cs typeface="Roboto"/>
                <a:sym typeface="Roboto"/>
              </a:endParaRPr>
            </a:p>
          </p:txBody>
        </p:sp>
        <p:sp>
          <p:nvSpPr>
            <p:cNvPr id="74" name="Google Shape;74;p14"/>
            <p:cNvSpPr txBox="1"/>
            <p:nvPr/>
          </p:nvSpPr>
          <p:spPr>
            <a:xfrm>
              <a:off x="7183850" y="2057125"/>
              <a:ext cx="1624500" cy="2350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sz="1100">
                <a:latin typeface="Roboto"/>
                <a:ea typeface="Roboto"/>
                <a:cs typeface="Roboto"/>
                <a:sym typeface="Roboto"/>
              </a:endParaRPr>
            </a:p>
          </p:txBody>
        </p:sp>
      </p:grpSp>
      <p:grpSp>
        <p:nvGrpSpPr>
          <p:cNvPr id="75" name="Google Shape;75;p14"/>
          <p:cNvGrpSpPr/>
          <p:nvPr/>
        </p:nvGrpSpPr>
        <p:grpSpPr>
          <a:xfrm>
            <a:off x="5242537" y="2323870"/>
            <a:ext cx="2064000" cy="3217850"/>
            <a:chOff x="5195350" y="1189775"/>
            <a:chExt cx="2064000" cy="3217850"/>
          </a:xfrm>
        </p:grpSpPr>
        <p:sp>
          <p:nvSpPr>
            <p:cNvPr id="76" name="Google Shape;76;p14"/>
            <p:cNvSpPr/>
            <p:nvPr/>
          </p:nvSpPr>
          <p:spPr>
            <a:xfrm>
              <a:off x="5195350" y="1189775"/>
              <a:ext cx="2064000" cy="669000"/>
            </a:xfrm>
            <a:prstGeom prst="chevron">
              <a:avLst>
                <a:gd name="adj" fmla="val 50000"/>
              </a:avLst>
            </a:prstGeom>
            <a:solidFill>
              <a:srgbClr val="BE2F2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dirty="0">
                  <a:solidFill>
                    <a:srgbClr val="FFFFFF"/>
                  </a:solidFill>
                  <a:latin typeface="Roboto"/>
                  <a:ea typeface="Roboto"/>
                  <a:cs typeface="Roboto"/>
                  <a:sym typeface="Roboto"/>
                </a:rPr>
                <a:t>Southern California crash data</a:t>
              </a:r>
              <a:endParaRPr dirty="0">
                <a:solidFill>
                  <a:srgbClr val="FFFFFF"/>
                </a:solidFill>
                <a:latin typeface="Roboto"/>
                <a:ea typeface="Roboto"/>
                <a:cs typeface="Roboto"/>
                <a:sym typeface="Roboto"/>
              </a:endParaRPr>
            </a:p>
          </p:txBody>
        </p:sp>
        <p:sp>
          <p:nvSpPr>
            <p:cNvPr id="77" name="Google Shape;77;p14"/>
            <p:cNvSpPr txBox="1"/>
            <p:nvPr/>
          </p:nvSpPr>
          <p:spPr>
            <a:xfrm>
              <a:off x="5461650" y="2057125"/>
              <a:ext cx="1624500" cy="2350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sz="1100">
                <a:latin typeface="Roboto"/>
                <a:ea typeface="Roboto"/>
                <a:cs typeface="Roboto"/>
                <a:sym typeface="Roboto"/>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5"/>
          <p:cNvSpPr txBox="1">
            <a:spLocks noGrp="1"/>
          </p:cNvSpPr>
          <p:nvPr>
            <p:ph type="title"/>
          </p:nvPr>
        </p:nvSpPr>
        <p:spPr>
          <a:xfrm>
            <a:off x="311700" y="82450"/>
            <a:ext cx="8520600" cy="1452300"/>
          </a:xfrm>
          <a:prstGeom prst="rect">
            <a:avLst/>
          </a:prstGeom>
        </p:spPr>
        <p:txBody>
          <a:bodyPr spcFirstLastPara="1" wrap="square" lIns="91425" tIns="91425" rIns="91425" bIns="91425" anchor="t" anchorCtr="0">
            <a:noAutofit/>
          </a:bodyPr>
          <a:lstStyle/>
          <a:p>
            <a:pPr marL="0" lvl="0" indent="0" algn="ctr" rtl="0">
              <a:lnSpc>
                <a:spcPct val="115000"/>
              </a:lnSpc>
              <a:spcBef>
                <a:spcPts val="1200"/>
              </a:spcBef>
              <a:spcAft>
                <a:spcPts val="0"/>
              </a:spcAft>
              <a:buSzPts val="990"/>
              <a:buNone/>
            </a:pPr>
            <a:r>
              <a:rPr lang="en-US" sz="2420" dirty="0"/>
              <a:t>Motorcycle crashes in California frequently result in serious injury or fatal outcomes.</a:t>
            </a:r>
            <a:endParaRPr sz="2520" dirty="0"/>
          </a:p>
        </p:txBody>
      </p:sp>
      <p:grpSp>
        <p:nvGrpSpPr>
          <p:cNvPr id="84" name="Google Shape;84;p15"/>
          <p:cNvGrpSpPr/>
          <p:nvPr/>
        </p:nvGrpSpPr>
        <p:grpSpPr>
          <a:xfrm>
            <a:off x="818525" y="2842350"/>
            <a:ext cx="2466975" cy="1771650"/>
            <a:chOff x="818525" y="2842350"/>
            <a:chExt cx="2466975" cy="1771650"/>
          </a:xfrm>
        </p:grpSpPr>
        <p:pic>
          <p:nvPicPr>
            <p:cNvPr id="85" name="Google Shape;85;p15"/>
            <p:cNvPicPr preferRelativeResize="0"/>
            <p:nvPr/>
          </p:nvPicPr>
          <p:blipFill>
            <a:blip r:embed="rId3">
              <a:alphaModFix/>
            </a:blip>
            <a:stretch>
              <a:fillRect/>
            </a:stretch>
          </p:blipFill>
          <p:spPr>
            <a:xfrm>
              <a:off x="818525" y="2842350"/>
              <a:ext cx="2466975" cy="1771650"/>
            </a:xfrm>
            <a:prstGeom prst="rect">
              <a:avLst/>
            </a:prstGeom>
            <a:noFill/>
            <a:ln w="9525" cap="flat" cmpd="sng">
              <a:solidFill>
                <a:schemeClr val="lt1"/>
              </a:solidFill>
              <a:prstDash val="solid"/>
              <a:round/>
              <a:headEnd type="none" w="sm" len="sm"/>
              <a:tailEnd type="none" w="sm" len="sm"/>
            </a:ln>
          </p:spPr>
        </p:pic>
        <p:sp>
          <p:nvSpPr>
            <p:cNvPr id="86" name="Google Shape;86;p15"/>
            <p:cNvSpPr/>
            <p:nvPr/>
          </p:nvSpPr>
          <p:spPr>
            <a:xfrm>
              <a:off x="3086100" y="3018650"/>
              <a:ext cx="143400" cy="1518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pic>
        <p:nvPicPr>
          <p:cNvPr id="1026" name="Picture 2">
            <a:extLst>
              <a:ext uri="{FF2B5EF4-FFF2-40B4-BE49-F238E27FC236}">
                <a16:creationId xmlns:a16="http://schemas.microsoft.com/office/drawing/2014/main" id="{56248913-A993-AA3C-4A05-D51AEB2C71B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87246" y="1354845"/>
            <a:ext cx="4575231" cy="34075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6"/>
          <p:cNvSpPr txBox="1">
            <a:spLocks noGrp="1"/>
          </p:cNvSpPr>
          <p:nvPr>
            <p:ph type="title"/>
          </p:nvPr>
        </p:nvSpPr>
        <p:spPr>
          <a:xfrm>
            <a:off x="77118" y="101175"/>
            <a:ext cx="8918154" cy="1188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US" sz="1800" dirty="0"/>
              <a:t>1) Which observable crash conditions are associated with severe or fatal motorcycle injuries in California?</a:t>
            </a:r>
            <a:br>
              <a:rPr lang="en-US" sz="1800" dirty="0"/>
            </a:br>
            <a:r>
              <a:rPr lang="en-US" sz="1800" dirty="0"/>
              <a:t>2) How does motorcycle injury severity vary across time, location, and roadway context?</a:t>
            </a:r>
            <a:endParaRPr sz="1800" dirty="0"/>
          </a:p>
        </p:txBody>
      </p:sp>
      <p:pic>
        <p:nvPicPr>
          <p:cNvPr id="2054" name="Picture 6">
            <a:extLst>
              <a:ext uri="{FF2B5EF4-FFF2-40B4-BE49-F238E27FC236}">
                <a16:creationId xmlns:a16="http://schemas.microsoft.com/office/drawing/2014/main" id="{C89AE6B5-C3A7-4CFB-7E1C-D5D49ABD79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36005" y="1406778"/>
            <a:ext cx="6108852" cy="363554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7"/>
          <p:cNvSpPr txBox="1">
            <a:spLocks noGrp="1"/>
          </p:cNvSpPr>
          <p:nvPr>
            <p:ph type="title"/>
          </p:nvPr>
        </p:nvSpPr>
        <p:spPr>
          <a:xfrm>
            <a:off x="311700" y="185500"/>
            <a:ext cx="8520600" cy="1399800"/>
          </a:xfrm>
          <a:prstGeom prst="rect">
            <a:avLst/>
          </a:prstGeom>
        </p:spPr>
        <p:txBody>
          <a:bodyPr spcFirstLastPara="1" wrap="square" lIns="91425" tIns="91425" rIns="91425" bIns="91425" anchor="t" anchorCtr="0">
            <a:normAutofit fontScale="90000"/>
          </a:bodyPr>
          <a:lstStyle/>
          <a:p>
            <a:pPr marL="0" lvl="0" indent="0" algn="ctr" rtl="0">
              <a:lnSpc>
                <a:spcPct val="115000"/>
              </a:lnSpc>
              <a:spcBef>
                <a:spcPts val="1200"/>
              </a:spcBef>
              <a:spcAft>
                <a:spcPts val="0"/>
              </a:spcAft>
              <a:buNone/>
            </a:pPr>
            <a:r>
              <a:rPr lang="en" sz="2666"/>
              <a:t>Prior research demonstrates that crash severity is influenced by multiple interacting factors and can be effectively studied using statistical and machine learning models.</a:t>
            </a:r>
            <a:endParaRPr sz="2666"/>
          </a:p>
          <a:p>
            <a:pPr marL="0" lvl="0" indent="0" algn="ctr" rtl="0">
              <a:spcBef>
                <a:spcPts val="1200"/>
              </a:spcBef>
              <a:spcAft>
                <a:spcPts val="0"/>
              </a:spcAft>
              <a:buNone/>
            </a:pPr>
            <a:endParaRPr/>
          </a:p>
        </p:txBody>
      </p:sp>
      <p:pic>
        <p:nvPicPr>
          <p:cNvPr id="98" name="Google Shape;98;p17"/>
          <p:cNvPicPr preferRelativeResize="0"/>
          <p:nvPr/>
        </p:nvPicPr>
        <p:blipFill>
          <a:blip r:embed="rId3">
            <a:alphaModFix/>
          </a:blip>
          <a:stretch>
            <a:fillRect/>
          </a:stretch>
        </p:blipFill>
        <p:spPr>
          <a:xfrm>
            <a:off x="820025" y="1662475"/>
            <a:ext cx="4107200" cy="2949125"/>
          </a:xfrm>
          <a:prstGeom prst="rect">
            <a:avLst/>
          </a:prstGeom>
          <a:noFill/>
          <a:ln>
            <a:noFill/>
          </a:ln>
        </p:spPr>
      </p:pic>
      <p:pic>
        <p:nvPicPr>
          <p:cNvPr id="99" name="Google Shape;99;p17"/>
          <p:cNvPicPr preferRelativeResize="0"/>
          <p:nvPr/>
        </p:nvPicPr>
        <p:blipFill>
          <a:blip r:embed="rId4">
            <a:alphaModFix/>
          </a:blip>
          <a:stretch>
            <a:fillRect/>
          </a:stretch>
        </p:blipFill>
        <p:spPr>
          <a:xfrm>
            <a:off x="5644425" y="1662475"/>
            <a:ext cx="2409925" cy="2992074"/>
          </a:xfrm>
          <a:prstGeom prst="rect">
            <a:avLst/>
          </a:prstGeom>
          <a:noFill/>
          <a:ln>
            <a:noFill/>
          </a:ln>
        </p:spPr>
      </p:pic>
      <p:sp>
        <p:nvSpPr>
          <p:cNvPr id="100" name="Google Shape;100;p17"/>
          <p:cNvSpPr txBox="1"/>
          <p:nvPr/>
        </p:nvSpPr>
        <p:spPr>
          <a:xfrm>
            <a:off x="1683150" y="4861500"/>
            <a:ext cx="6478500" cy="28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chemeClr val="dk1"/>
                </a:solidFill>
              </a:rPr>
              <a:t>(</a:t>
            </a:r>
            <a:r>
              <a:rPr lang="en" sz="900" i="1">
                <a:solidFill>
                  <a:schemeClr val="dk1"/>
                </a:solidFill>
              </a:rPr>
              <a:t>2025 SafeTREC Traffic Safety Facts: Motorcycle Safety | Safe Transportation Research and Education Center</a:t>
            </a:r>
            <a:r>
              <a:rPr lang="en" sz="900">
                <a:solidFill>
                  <a:schemeClr val="dk1"/>
                </a:solidFill>
              </a:rPr>
              <a:t>, 2025)</a:t>
            </a:r>
            <a:endParaRPr sz="1500">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8"/>
          <p:cNvSpPr txBox="1">
            <a:spLocks noGrp="1"/>
          </p:cNvSpPr>
          <p:nvPr>
            <p:ph type="title"/>
          </p:nvPr>
        </p:nvSpPr>
        <p:spPr>
          <a:xfrm>
            <a:off x="311700" y="219225"/>
            <a:ext cx="8520600" cy="1028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Publicly available California crash data provide sufficient detail to support prediction of motorcycle crash severity.</a:t>
            </a:r>
            <a:endParaRPr/>
          </a:p>
        </p:txBody>
      </p:sp>
      <p:pic>
        <p:nvPicPr>
          <p:cNvPr id="106" name="Google Shape;106;p18"/>
          <p:cNvPicPr preferRelativeResize="0"/>
          <p:nvPr/>
        </p:nvPicPr>
        <p:blipFill>
          <a:blip r:embed="rId3">
            <a:alphaModFix/>
          </a:blip>
          <a:stretch>
            <a:fillRect/>
          </a:stretch>
        </p:blipFill>
        <p:spPr>
          <a:xfrm>
            <a:off x="4302350" y="1247925"/>
            <a:ext cx="3204617" cy="3666975"/>
          </a:xfrm>
          <a:prstGeom prst="rect">
            <a:avLst/>
          </a:prstGeom>
          <a:noFill/>
          <a:ln>
            <a:noFill/>
          </a:ln>
        </p:spPr>
      </p:pic>
      <p:pic>
        <p:nvPicPr>
          <p:cNvPr id="107" name="Google Shape;107;p18"/>
          <p:cNvPicPr preferRelativeResize="0"/>
          <p:nvPr/>
        </p:nvPicPr>
        <p:blipFill rotWithShape="1">
          <a:blip r:embed="rId4">
            <a:alphaModFix/>
          </a:blip>
          <a:srcRect r="6041" b="7209"/>
          <a:stretch/>
        </p:blipFill>
        <p:spPr>
          <a:xfrm>
            <a:off x="1153475" y="2816275"/>
            <a:ext cx="2608025" cy="19012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grpSp>
        <p:nvGrpSpPr>
          <p:cNvPr id="112" name="Google Shape;112;p19"/>
          <p:cNvGrpSpPr/>
          <p:nvPr/>
        </p:nvGrpSpPr>
        <p:grpSpPr>
          <a:xfrm>
            <a:off x="7264213" y="1948510"/>
            <a:ext cx="1359905" cy="1897975"/>
            <a:chOff x="7264213" y="1948510"/>
            <a:chExt cx="1359905" cy="1897975"/>
          </a:xfrm>
        </p:grpSpPr>
        <p:sp>
          <p:nvSpPr>
            <p:cNvPr id="113" name="Google Shape;113;p19"/>
            <p:cNvSpPr/>
            <p:nvPr/>
          </p:nvSpPr>
          <p:spPr>
            <a:xfrm>
              <a:off x="7647018" y="1948510"/>
              <a:ext cx="594300" cy="594300"/>
            </a:xfrm>
            <a:prstGeom prst="ellipse">
              <a:avLst/>
            </a:prstGeom>
            <a:noFill/>
            <a:ln w="38100" cap="flat" cmpd="sng">
              <a:solidFill>
                <a:srgbClr val="85858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9"/>
            <p:cNvSpPr txBox="1"/>
            <p:nvPr/>
          </p:nvSpPr>
          <p:spPr>
            <a:xfrm>
              <a:off x="7264213" y="2652285"/>
              <a:ext cx="1359900" cy="446400"/>
            </a:xfrm>
            <a:prstGeom prst="rect">
              <a:avLst/>
            </a:prstGeom>
            <a:noFill/>
            <a:ln>
              <a:noFill/>
            </a:ln>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r>
                <a:rPr lang="en" sz="1000" b="1">
                  <a:solidFill>
                    <a:srgbClr val="858585"/>
                  </a:solidFill>
                  <a:latin typeface="Roboto"/>
                  <a:ea typeface="Roboto"/>
                  <a:cs typeface="Roboto"/>
                  <a:sym typeface="Roboto"/>
                </a:rPr>
                <a:t>Spatial Hotspot Analysis</a:t>
              </a:r>
              <a:endParaRPr sz="1000" b="1">
                <a:solidFill>
                  <a:srgbClr val="858585"/>
                </a:solidFill>
                <a:latin typeface="Roboto"/>
                <a:ea typeface="Roboto"/>
                <a:cs typeface="Roboto"/>
                <a:sym typeface="Roboto"/>
              </a:endParaRPr>
            </a:p>
          </p:txBody>
        </p:sp>
        <p:sp>
          <p:nvSpPr>
            <p:cNvPr id="115" name="Google Shape;115;p19"/>
            <p:cNvSpPr txBox="1"/>
            <p:nvPr/>
          </p:nvSpPr>
          <p:spPr>
            <a:xfrm>
              <a:off x="7264218" y="3109085"/>
              <a:ext cx="1359900" cy="7374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1600"/>
                </a:spcAft>
                <a:buNone/>
              </a:pPr>
              <a:endParaRPr sz="800">
                <a:solidFill>
                  <a:srgbClr val="858585"/>
                </a:solidFill>
                <a:latin typeface="Roboto"/>
                <a:ea typeface="Roboto"/>
                <a:cs typeface="Roboto"/>
                <a:sym typeface="Roboto"/>
              </a:endParaRPr>
            </a:p>
          </p:txBody>
        </p:sp>
        <p:sp>
          <p:nvSpPr>
            <p:cNvPr id="116" name="Google Shape;116;p19"/>
            <p:cNvSpPr txBox="1"/>
            <p:nvPr/>
          </p:nvSpPr>
          <p:spPr>
            <a:xfrm>
              <a:off x="7725768" y="2109685"/>
              <a:ext cx="436800" cy="3210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1600"/>
                </a:spcAft>
                <a:buNone/>
              </a:pPr>
              <a:endParaRPr sz="800" b="1">
                <a:solidFill>
                  <a:srgbClr val="858585"/>
                </a:solidFill>
                <a:latin typeface="Roboto"/>
                <a:ea typeface="Roboto"/>
                <a:cs typeface="Roboto"/>
                <a:sym typeface="Roboto"/>
              </a:endParaRPr>
            </a:p>
          </p:txBody>
        </p:sp>
      </p:grpSp>
      <p:pic>
        <p:nvPicPr>
          <p:cNvPr id="117" name="Google Shape;117;p19"/>
          <p:cNvPicPr preferRelativeResize="0"/>
          <p:nvPr/>
        </p:nvPicPr>
        <p:blipFill>
          <a:blip r:embed="rId3">
            <a:alphaModFix/>
          </a:blip>
          <a:stretch>
            <a:fillRect/>
          </a:stretch>
        </p:blipFill>
        <p:spPr>
          <a:xfrm>
            <a:off x="7731175" y="2090425"/>
            <a:ext cx="425976" cy="359500"/>
          </a:xfrm>
          <a:prstGeom prst="rect">
            <a:avLst/>
          </a:prstGeom>
          <a:noFill/>
          <a:ln>
            <a:noFill/>
          </a:ln>
        </p:spPr>
      </p:pic>
      <p:pic>
        <p:nvPicPr>
          <p:cNvPr id="118" name="Google Shape;118;p19" descr="election related correct and incorect sign of which hand on correct sign vector in flat style, (Provided by Getty Images)"/>
          <p:cNvPicPr preferRelativeResize="0"/>
          <p:nvPr/>
        </p:nvPicPr>
        <p:blipFill>
          <a:blip r:embed="rId4">
            <a:alphaModFix/>
          </a:blip>
          <a:stretch>
            <a:fillRect/>
          </a:stretch>
        </p:blipFill>
        <p:spPr>
          <a:xfrm>
            <a:off x="6309200" y="2006250"/>
            <a:ext cx="527852" cy="527852"/>
          </a:xfrm>
          <a:prstGeom prst="rect">
            <a:avLst/>
          </a:prstGeom>
          <a:noFill/>
          <a:ln>
            <a:noFill/>
          </a:ln>
        </p:spPr>
      </p:pic>
      <p:pic>
        <p:nvPicPr>
          <p:cNvPr id="119" name="Google Shape;119;p19" descr="Creativity, Thinking Icon / blue vector (Provided by Getty Images)"/>
          <p:cNvPicPr preferRelativeResize="0"/>
          <p:nvPr/>
        </p:nvPicPr>
        <p:blipFill>
          <a:blip r:embed="rId5">
            <a:alphaModFix/>
          </a:blip>
          <a:stretch>
            <a:fillRect/>
          </a:stretch>
        </p:blipFill>
        <p:spPr>
          <a:xfrm>
            <a:off x="4973488" y="2030800"/>
            <a:ext cx="478751" cy="478751"/>
          </a:xfrm>
          <a:prstGeom prst="rect">
            <a:avLst/>
          </a:prstGeom>
          <a:noFill/>
          <a:ln>
            <a:noFill/>
          </a:ln>
        </p:spPr>
      </p:pic>
      <p:pic>
        <p:nvPicPr>
          <p:cNvPr id="120" name="Google Shape;120;p19" descr="Car crash with motorbike accident in flat design on white background. Angry driver. (Provided by Getty Images)"/>
          <p:cNvPicPr preferRelativeResize="0"/>
          <p:nvPr/>
        </p:nvPicPr>
        <p:blipFill>
          <a:blip r:embed="rId6">
            <a:alphaModFix/>
          </a:blip>
          <a:stretch>
            <a:fillRect/>
          </a:stretch>
        </p:blipFill>
        <p:spPr>
          <a:xfrm>
            <a:off x="3558611" y="2060377"/>
            <a:ext cx="599250" cy="419599"/>
          </a:xfrm>
          <a:prstGeom prst="rect">
            <a:avLst/>
          </a:prstGeom>
          <a:noFill/>
          <a:ln>
            <a:noFill/>
          </a:ln>
        </p:spPr>
      </p:pic>
      <p:pic>
        <p:nvPicPr>
          <p:cNvPr id="121" name="Google Shape;121;p19" descr="the growing trend is an icon vector. Isolated contour symbol illustration (Provided by Getty Images)"/>
          <p:cNvPicPr preferRelativeResize="0"/>
          <p:nvPr/>
        </p:nvPicPr>
        <p:blipFill>
          <a:blip r:embed="rId7">
            <a:alphaModFix/>
          </a:blip>
          <a:stretch>
            <a:fillRect/>
          </a:stretch>
        </p:blipFill>
        <p:spPr>
          <a:xfrm>
            <a:off x="2246413" y="2006250"/>
            <a:ext cx="527852" cy="527852"/>
          </a:xfrm>
          <a:prstGeom prst="rect">
            <a:avLst/>
          </a:prstGeom>
          <a:noFill/>
          <a:ln>
            <a:noFill/>
          </a:ln>
        </p:spPr>
      </p:pic>
      <p:pic>
        <p:nvPicPr>
          <p:cNvPr id="122" name="Google Shape;122;p19" descr="cleaning laptop icon vector outline illustration (Provided by Getty Images)"/>
          <p:cNvPicPr preferRelativeResize="0"/>
          <p:nvPr/>
        </p:nvPicPr>
        <p:blipFill rotWithShape="1">
          <a:blip r:embed="rId8">
            <a:alphaModFix/>
          </a:blip>
          <a:srcRect r="-12917" b="-18891"/>
          <a:stretch/>
        </p:blipFill>
        <p:spPr>
          <a:xfrm>
            <a:off x="970500" y="2015950"/>
            <a:ext cx="527852" cy="555802"/>
          </a:xfrm>
          <a:prstGeom prst="rect">
            <a:avLst/>
          </a:prstGeom>
          <a:noFill/>
          <a:ln>
            <a:noFill/>
          </a:ln>
        </p:spPr>
      </p:pic>
      <p:grpSp>
        <p:nvGrpSpPr>
          <p:cNvPr id="123" name="Google Shape;123;p19"/>
          <p:cNvGrpSpPr/>
          <p:nvPr/>
        </p:nvGrpSpPr>
        <p:grpSpPr>
          <a:xfrm>
            <a:off x="579225" y="1973023"/>
            <a:ext cx="1310403" cy="1873462"/>
            <a:chOff x="519875" y="1973023"/>
            <a:chExt cx="1310403" cy="1873462"/>
          </a:xfrm>
        </p:grpSpPr>
        <p:sp>
          <p:nvSpPr>
            <p:cNvPr id="124" name="Google Shape;124;p19"/>
            <p:cNvSpPr/>
            <p:nvPr/>
          </p:nvSpPr>
          <p:spPr>
            <a:xfrm>
              <a:off x="877922" y="1973023"/>
              <a:ext cx="594300" cy="594300"/>
            </a:xfrm>
            <a:prstGeom prst="ellipse">
              <a:avLst/>
            </a:prstGeom>
            <a:noFill/>
            <a:ln w="38100" cap="flat" cmpd="sng">
              <a:solidFill>
                <a:srgbClr val="A7291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19"/>
            <p:cNvSpPr txBox="1"/>
            <p:nvPr/>
          </p:nvSpPr>
          <p:spPr>
            <a:xfrm>
              <a:off x="519878" y="2652285"/>
              <a:ext cx="1310400" cy="446400"/>
            </a:xfrm>
            <a:prstGeom prst="rect">
              <a:avLst/>
            </a:prstGeom>
            <a:noFill/>
            <a:ln>
              <a:noFill/>
            </a:ln>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r>
                <a:rPr lang="en" sz="1000" b="1">
                  <a:solidFill>
                    <a:srgbClr val="A7291E"/>
                  </a:solidFill>
                  <a:latin typeface="Roboto"/>
                  <a:ea typeface="Roboto"/>
                  <a:cs typeface="Roboto"/>
                  <a:sym typeface="Roboto"/>
                </a:rPr>
                <a:t>Data cleaning</a:t>
              </a:r>
              <a:endParaRPr sz="1000" b="1">
                <a:solidFill>
                  <a:srgbClr val="A7291E"/>
                </a:solidFill>
                <a:latin typeface="Roboto"/>
                <a:ea typeface="Roboto"/>
                <a:cs typeface="Roboto"/>
                <a:sym typeface="Roboto"/>
              </a:endParaRPr>
            </a:p>
          </p:txBody>
        </p:sp>
        <p:sp>
          <p:nvSpPr>
            <p:cNvPr id="126" name="Google Shape;126;p19"/>
            <p:cNvSpPr txBox="1"/>
            <p:nvPr/>
          </p:nvSpPr>
          <p:spPr>
            <a:xfrm>
              <a:off x="519875" y="3109085"/>
              <a:ext cx="1310400" cy="7374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1600"/>
                </a:spcAft>
                <a:buNone/>
              </a:pPr>
              <a:endParaRPr sz="800">
                <a:solidFill>
                  <a:srgbClr val="A7291E"/>
                </a:solidFill>
                <a:latin typeface="Roboto"/>
                <a:ea typeface="Roboto"/>
                <a:cs typeface="Roboto"/>
                <a:sym typeface="Roboto"/>
              </a:endParaRPr>
            </a:p>
          </p:txBody>
        </p:sp>
      </p:grpSp>
      <p:sp>
        <p:nvSpPr>
          <p:cNvPr id="127" name="Google Shape;127;p19"/>
          <p:cNvSpPr txBox="1">
            <a:spLocks noGrp="1"/>
          </p:cNvSpPr>
          <p:nvPr>
            <p:ph type="title"/>
          </p:nvPr>
        </p:nvSpPr>
        <p:spPr>
          <a:xfrm>
            <a:off x="311700" y="116200"/>
            <a:ext cx="8520600" cy="13761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SzPct val="39600"/>
              <a:buNone/>
            </a:pPr>
            <a:r>
              <a:rPr lang="en" sz="2500"/>
              <a:t>The dataset enables a structured analytical pipeline integrating exploratory analysis, predictive modeling, and spatial risk assessment to predict motorcycle crash injury severity.</a:t>
            </a:r>
            <a:endParaRPr sz="2500"/>
          </a:p>
        </p:txBody>
      </p:sp>
      <p:sp>
        <p:nvSpPr>
          <p:cNvPr id="128" name="Google Shape;128;p19"/>
          <p:cNvSpPr/>
          <p:nvPr/>
        </p:nvSpPr>
        <p:spPr>
          <a:xfrm>
            <a:off x="1662920" y="2251735"/>
            <a:ext cx="353400" cy="36900"/>
          </a:xfrm>
          <a:prstGeom prst="roundRect">
            <a:avLst>
              <a:gd name="adj" fmla="val 50000"/>
            </a:avLst>
          </a:prstGeom>
          <a:solidFill>
            <a:srgbClr val="A7291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9" name="Google Shape;129;p19"/>
          <p:cNvGrpSpPr/>
          <p:nvPr/>
        </p:nvGrpSpPr>
        <p:grpSpPr>
          <a:xfrm>
            <a:off x="1848940" y="1948510"/>
            <a:ext cx="1310400" cy="1897975"/>
            <a:chOff x="1848940" y="1948510"/>
            <a:chExt cx="1310400" cy="1897975"/>
          </a:xfrm>
        </p:grpSpPr>
        <p:sp>
          <p:nvSpPr>
            <p:cNvPr id="130" name="Google Shape;130;p19"/>
            <p:cNvSpPr/>
            <p:nvPr/>
          </p:nvSpPr>
          <p:spPr>
            <a:xfrm>
              <a:off x="2206990" y="1948510"/>
              <a:ext cx="594300" cy="594300"/>
            </a:xfrm>
            <a:prstGeom prst="ellipse">
              <a:avLst/>
            </a:prstGeom>
            <a:noFill/>
            <a:ln w="38100" cap="flat" cmpd="sng">
              <a:solidFill>
                <a:srgbClr val="A7291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19"/>
            <p:cNvSpPr txBox="1"/>
            <p:nvPr/>
          </p:nvSpPr>
          <p:spPr>
            <a:xfrm>
              <a:off x="1848940" y="2652285"/>
              <a:ext cx="1310400" cy="446400"/>
            </a:xfrm>
            <a:prstGeom prst="rect">
              <a:avLst/>
            </a:prstGeom>
            <a:noFill/>
            <a:ln>
              <a:noFill/>
            </a:ln>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r>
                <a:rPr lang="en" sz="1000" b="1">
                  <a:solidFill>
                    <a:srgbClr val="A7291E"/>
                  </a:solidFill>
                  <a:latin typeface="Roboto"/>
                  <a:ea typeface="Roboto"/>
                  <a:cs typeface="Roboto"/>
                  <a:sym typeface="Roboto"/>
                </a:rPr>
                <a:t>EDA</a:t>
              </a:r>
              <a:endParaRPr sz="1000" b="1">
                <a:solidFill>
                  <a:srgbClr val="A7291E"/>
                </a:solidFill>
                <a:latin typeface="Roboto"/>
                <a:ea typeface="Roboto"/>
                <a:cs typeface="Roboto"/>
                <a:sym typeface="Roboto"/>
              </a:endParaRPr>
            </a:p>
          </p:txBody>
        </p:sp>
        <p:sp>
          <p:nvSpPr>
            <p:cNvPr id="132" name="Google Shape;132;p19"/>
            <p:cNvSpPr txBox="1"/>
            <p:nvPr/>
          </p:nvSpPr>
          <p:spPr>
            <a:xfrm>
              <a:off x="1848940" y="3109085"/>
              <a:ext cx="1310400" cy="7374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1600"/>
                </a:spcAft>
                <a:buNone/>
              </a:pPr>
              <a:endParaRPr sz="800">
                <a:solidFill>
                  <a:srgbClr val="A7291E"/>
                </a:solidFill>
                <a:latin typeface="Roboto"/>
                <a:ea typeface="Roboto"/>
                <a:cs typeface="Roboto"/>
                <a:sym typeface="Roboto"/>
              </a:endParaRPr>
            </a:p>
          </p:txBody>
        </p:sp>
      </p:grpSp>
      <p:grpSp>
        <p:nvGrpSpPr>
          <p:cNvPr id="133" name="Google Shape;133;p19"/>
          <p:cNvGrpSpPr/>
          <p:nvPr/>
        </p:nvGrpSpPr>
        <p:grpSpPr>
          <a:xfrm>
            <a:off x="3178034" y="1948510"/>
            <a:ext cx="1359902" cy="1897974"/>
            <a:chOff x="3178034" y="1948510"/>
            <a:chExt cx="1359902" cy="1897974"/>
          </a:xfrm>
        </p:grpSpPr>
        <p:sp>
          <p:nvSpPr>
            <p:cNvPr id="134" name="Google Shape;134;p19"/>
            <p:cNvSpPr/>
            <p:nvPr/>
          </p:nvSpPr>
          <p:spPr>
            <a:xfrm>
              <a:off x="3560827" y="1948510"/>
              <a:ext cx="594300" cy="594300"/>
            </a:xfrm>
            <a:prstGeom prst="ellipse">
              <a:avLst/>
            </a:prstGeom>
            <a:noFill/>
            <a:ln w="38100" cap="flat" cmpd="sng">
              <a:solidFill>
                <a:srgbClr val="85858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19"/>
            <p:cNvSpPr txBox="1"/>
            <p:nvPr/>
          </p:nvSpPr>
          <p:spPr>
            <a:xfrm>
              <a:off x="3178034" y="2652285"/>
              <a:ext cx="1359900" cy="446400"/>
            </a:xfrm>
            <a:prstGeom prst="rect">
              <a:avLst/>
            </a:prstGeom>
            <a:noFill/>
            <a:ln>
              <a:noFill/>
            </a:ln>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r>
                <a:rPr lang="en" sz="1000" b="1">
                  <a:solidFill>
                    <a:srgbClr val="858585"/>
                  </a:solidFill>
                  <a:latin typeface="Roboto"/>
                  <a:ea typeface="Roboto"/>
                  <a:cs typeface="Roboto"/>
                  <a:sym typeface="Roboto"/>
                </a:rPr>
                <a:t>Injury Severity Defined</a:t>
              </a:r>
              <a:endParaRPr sz="1000" b="1">
                <a:solidFill>
                  <a:srgbClr val="858585"/>
                </a:solidFill>
                <a:latin typeface="Roboto"/>
                <a:ea typeface="Roboto"/>
                <a:cs typeface="Roboto"/>
                <a:sym typeface="Roboto"/>
              </a:endParaRPr>
            </a:p>
          </p:txBody>
        </p:sp>
        <p:sp>
          <p:nvSpPr>
            <p:cNvPr id="136" name="Google Shape;136;p19"/>
            <p:cNvSpPr txBox="1"/>
            <p:nvPr/>
          </p:nvSpPr>
          <p:spPr>
            <a:xfrm>
              <a:off x="3178036" y="3109084"/>
              <a:ext cx="1359900" cy="7374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1600"/>
                </a:spcAft>
                <a:buNone/>
              </a:pPr>
              <a:endParaRPr sz="800">
                <a:solidFill>
                  <a:srgbClr val="858585"/>
                </a:solidFill>
                <a:latin typeface="Roboto"/>
                <a:ea typeface="Roboto"/>
                <a:cs typeface="Roboto"/>
                <a:sym typeface="Roboto"/>
              </a:endParaRPr>
            </a:p>
          </p:txBody>
        </p:sp>
        <p:sp>
          <p:nvSpPr>
            <p:cNvPr id="137" name="Google Shape;137;p19"/>
            <p:cNvSpPr txBox="1"/>
            <p:nvPr/>
          </p:nvSpPr>
          <p:spPr>
            <a:xfrm>
              <a:off x="3639577" y="2109685"/>
              <a:ext cx="436800" cy="3210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1600"/>
                </a:spcAft>
                <a:buNone/>
              </a:pPr>
              <a:endParaRPr sz="800" b="1">
                <a:solidFill>
                  <a:srgbClr val="858585"/>
                </a:solidFill>
                <a:latin typeface="Roboto"/>
                <a:ea typeface="Roboto"/>
                <a:cs typeface="Roboto"/>
                <a:sym typeface="Roboto"/>
              </a:endParaRPr>
            </a:p>
          </p:txBody>
        </p:sp>
      </p:grpSp>
      <p:grpSp>
        <p:nvGrpSpPr>
          <p:cNvPr id="138" name="Google Shape;138;p19"/>
          <p:cNvGrpSpPr/>
          <p:nvPr/>
        </p:nvGrpSpPr>
        <p:grpSpPr>
          <a:xfrm>
            <a:off x="4557650" y="1948510"/>
            <a:ext cx="1310403" cy="1897975"/>
            <a:chOff x="4557650" y="1948510"/>
            <a:chExt cx="1310403" cy="1897975"/>
          </a:xfrm>
        </p:grpSpPr>
        <p:sp>
          <p:nvSpPr>
            <p:cNvPr id="139" name="Google Shape;139;p19"/>
            <p:cNvSpPr/>
            <p:nvPr/>
          </p:nvSpPr>
          <p:spPr>
            <a:xfrm>
              <a:off x="4915703" y="1948510"/>
              <a:ext cx="594300" cy="594300"/>
            </a:xfrm>
            <a:prstGeom prst="ellipse">
              <a:avLst/>
            </a:prstGeom>
            <a:noFill/>
            <a:ln w="38100" cap="flat" cmpd="sng">
              <a:solidFill>
                <a:srgbClr val="85858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19"/>
            <p:cNvSpPr txBox="1"/>
            <p:nvPr/>
          </p:nvSpPr>
          <p:spPr>
            <a:xfrm>
              <a:off x="4557650" y="2652285"/>
              <a:ext cx="1310400" cy="446400"/>
            </a:xfrm>
            <a:prstGeom prst="rect">
              <a:avLst/>
            </a:prstGeom>
            <a:noFill/>
            <a:ln>
              <a:noFill/>
            </a:ln>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r>
                <a:rPr lang="en" sz="1000" b="1">
                  <a:solidFill>
                    <a:srgbClr val="858585"/>
                  </a:solidFill>
                  <a:latin typeface="Roboto"/>
                  <a:ea typeface="Roboto"/>
                  <a:cs typeface="Roboto"/>
                  <a:sym typeface="Roboto"/>
                </a:rPr>
                <a:t>Predictive modeling</a:t>
              </a:r>
              <a:endParaRPr sz="1000" b="1">
                <a:solidFill>
                  <a:srgbClr val="858585"/>
                </a:solidFill>
                <a:latin typeface="Roboto"/>
                <a:ea typeface="Roboto"/>
                <a:cs typeface="Roboto"/>
                <a:sym typeface="Roboto"/>
              </a:endParaRPr>
            </a:p>
          </p:txBody>
        </p:sp>
        <p:sp>
          <p:nvSpPr>
            <p:cNvPr id="141" name="Google Shape;141;p19"/>
            <p:cNvSpPr txBox="1"/>
            <p:nvPr/>
          </p:nvSpPr>
          <p:spPr>
            <a:xfrm>
              <a:off x="4557653" y="3109085"/>
              <a:ext cx="1310400" cy="7374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1600"/>
                </a:spcAft>
                <a:buNone/>
              </a:pPr>
              <a:endParaRPr sz="800">
                <a:solidFill>
                  <a:srgbClr val="858585"/>
                </a:solidFill>
                <a:latin typeface="Roboto"/>
                <a:ea typeface="Roboto"/>
                <a:cs typeface="Roboto"/>
                <a:sym typeface="Roboto"/>
              </a:endParaRPr>
            </a:p>
          </p:txBody>
        </p:sp>
        <p:sp>
          <p:nvSpPr>
            <p:cNvPr id="142" name="Google Shape;142;p19"/>
            <p:cNvSpPr txBox="1"/>
            <p:nvPr/>
          </p:nvSpPr>
          <p:spPr>
            <a:xfrm>
              <a:off x="4994453" y="2109685"/>
              <a:ext cx="436800" cy="3210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1600"/>
                </a:spcAft>
                <a:buNone/>
              </a:pPr>
              <a:endParaRPr sz="800" b="1">
                <a:solidFill>
                  <a:srgbClr val="858585"/>
                </a:solidFill>
                <a:latin typeface="Roboto"/>
                <a:ea typeface="Roboto"/>
                <a:cs typeface="Roboto"/>
                <a:sym typeface="Roboto"/>
              </a:endParaRPr>
            </a:p>
          </p:txBody>
        </p:sp>
      </p:grpSp>
      <p:grpSp>
        <p:nvGrpSpPr>
          <p:cNvPr id="143" name="Google Shape;143;p19"/>
          <p:cNvGrpSpPr/>
          <p:nvPr/>
        </p:nvGrpSpPr>
        <p:grpSpPr>
          <a:xfrm>
            <a:off x="5887800" y="1948510"/>
            <a:ext cx="1359905" cy="1897975"/>
            <a:chOff x="5887800" y="1948510"/>
            <a:chExt cx="1359905" cy="1897975"/>
          </a:xfrm>
        </p:grpSpPr>
        <p:sp>
          <p:nvSpPr>
            <p:cNvPr id="144" name="Google Shape;144;p19"/>
            <p:cNvSpPr/>
            <p:nvPr/>
          </p:nvSpPr>
          <p:spPr>
            <a:xfrm>
              <a:off x="6270606" y="1948510"/>
              <a:ext cx="594300" cy="594300"/>
            </a:xfrm>
            <a:prstGeom prst="ellipse">
              <a:avLst/>
            </a:prstGeom>
            <a:noFill/>
            <a:ln w="38100" cap="flat" cmpd="sng">
              <a:solidFill>
                <a:srgbClr val="85858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19"/>
            <p:cNvSpPr txBox="1"/>
            <p:nvPr/>
          </p:nvSpPr>
          <p:spPr>
            <a:xfrm>
              <a:off x="5887800" y="2652285"/>
              <a:ext cx="1359900" cy="446400"/>
            </a:xfrm>
            <a:prstGeom prst="rect">
              <a:avLst/>
            </a:prstGeom>
            <a:noFill/>
            <a:ln>
              <a:noFill/>
            </a:ln>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r>
                <a:rPr lang="en" sz="1000" b="1">
                  <a:solidFill>
                    <a:srgbClr val="858585"/>
                  </a:solidFill>
                  <a:latin typeface="Roboto"/>
                  <a:ea typeface="Roboto"/>
                  <a:cs typeface="Roboto"/>
                  <a:sym typeface="Roboto"/>
                </a:rPr>
                <a:t>Model Evaluation</a:t>
              </a:r>
              <a:endParaRPr sz="1000" b="1">
                <a:solidFill>
                  <a:srgbClr val="858585"/>
                </a:solidFill>
                <a:latin typeface="Roboto"/>
                <a:ea typeface="Roboto"/>
                <a:cs typeface="Roboto"/>
                <a:sym typeface="Roboto"/>
              </a:endParaRPr>
            </a:p>
          </p:txBody>
        </p:sp>
        <p:sp>
          <p:nvSpPr>
            <p:cNvPr id="146" name="Google Shape;146;p19"/>
            <p:cNvSpPr txBox="1"/>
            <p:nvPr/>
          </p:nvSpPr>
          <p:spPr>
            <a:xfrm>
              <a:off x="5887806" y="3109085"/>
              <a:ext cx="1359900" cy="7374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1600"/>
                </a:spcAft>
                <a:buNone/>
              </a:pPr>
              <a:r>
                <a:rPr lang="en" sz="800">
                  <a:solidFill>
                    <a:srgbClr val="858585"/>
                  </a:solidFill>
                  <a:latin typeface="Roboto"/>
                  <a:ea typeface="Roboto"/>
                  <a:cs typeface="Roboto"/>
                  <a:sym typeface="Roboto"/>
                </a:rPr>
                <a:t>.</a:t>
              </a:r>
              <a:endParaRPr sz="800">
                <a:solidFill>
                  <a:srgbClr val="858585"/>
                </a:solidFill>
                <a:latin typeface="Roboto"/>
                <a:ea typeface="Roboto"/>
                <a:cs typeface="Roboto"/>
                <a:sym typeface="Roboto"/>
              </a:endParaRPr>
            </a:p>
          </p:txBody>
        </p:sp>
        <p:sp>
          <p:nvSpPr>
            <p:cNvPr id="147" name="Google Shape;147;p19"/>
            <p:cNvSpPr txBox="1"/>
            <p:nvPr/>
          </p:nvSpPr>
          <p:spPr>
            <a:xfrm>
              <a:off x="6349356" y="2109685"/>
              <a:ext cx="436800" cy="3210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1600"/>
                </a:spcAft>
                <a:buNone/>
              </a:pPr>
              <a:endParaRPr sz="800" b="1">
                <a:solidFill>
                  <a:srgbClr val="858585"/>
                </a:solidFill>
                <a:latin typeface="Roboto"/>
                <a:ea typeface="Roboto"/>
                <a:cs typeface="Roboto"/>
                <a:sym typeface="Roboto"/>
              </a:endParaRPr>
            </a:p>
          </p:txBody>
        </p:sp>
      </p:grpSp>
      <p:sp>
        <p:nvSpPr>
          <p:cNvPr id="148" name="Google Shape;148;p19"/>
          <p:cNvSpPr/>
          <p:nvPr/>
        </p:nvSpPr>
        <p:spPr>
          <a:xfrm>
            <a:off x="3004357" y="2251735"/>
            <a:ext cx="353400" cy="36900"/>
          </a:xfrm>
          <a:prstGeom prst="roundRect">
            <a:avLst>
              <a:gd name="adj" fmla="val 50000"/>
            </a:avLst>
          </a:pr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19"/>
          <p:cNvSpPr/>
          <p:nvPr/>
        </p:nvSpPr>
        <p:spPr>
          <a:xfrm>
            <a:off x="4358720" y="2251735"/>
            <a:ext cx="353400" cy="36900"/>
          </a:xfrm>
          <a:prstGeom prst="roundRect">
            <a:avLst>
              <a:gd name="adj" fmla="val 50000"/>
            </a:avLst>
          </a:pr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19"/>
          <p:cNvSpPr/>
          <p:nvPr/>
        </p:nvSpPr>
        <p:spPr>
          <a:xfrm>
            <a:off x="5713595" y="2251735"/>
            <a:ext cx="353400" cy="36900"/>
          </a:xfrm>
          <a:prstGeom prst="roundRect">
            <a:avLst>
              <a:gd name="adj" fmla="val 50000"/>
            </a:avLst>
          </a:pr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19"/>
          <p:cNvSpPr/>
          <p:nvPr/>
        </p:nvSpPr>
        <p:spPr>
          <a:xfrm>
            <a:off x="7079257" y="2251735"/>
            <a:ext cx="353400" cy="36900"/>
          </a:xfrm>
          <a:prstGeom prst="roundRect">
            <a:avLst>
              <a:gd name="adj" fmla="val 50000"/>
            </a:avLst>
          </a:prstGeom>
          <a:solidFill>
            <a:srgbClr val="85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20"/>
          <p:cNvSpPr txBox="1">
            <a:spLocks noGrp="1"/>
          </p:cNvSpPr>
          <p:nvPr>
            <p:ph type="title"/>
          </p:nvPr>
        </p:nvSpPr>
        <p:spPr>
          <a:xfrm>
            <a:off x="311700" y="124600"/>
            <a:ext cx="8520600" cy="1276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US" sz="2420" dirty="0"/>
              <a:t>Motorcycle crash injury severity remains a serious and ongoing public safety concern across Southern California communities.</a:t>
            </a:r>
            <a:endParaRPr sz="2420" dirty="0"/>
          </a:p>
        </p:txBody>
      </p:sp>
      <p:pic>
        <p:nvPicPr>
          <p:cNvPr id="4" name="Picture 3">
            <a:extLst>
              <a:ext uri="{FF2B5EF4-FFF2-40B4-BE49-F238E27FC236}">
                <a16:creationId xmlns:a16="http://schemas.microsoft.com/office/drawing/2014/main" id="{80E9AF62-1D63-2F16-4F73-C11588EA979E}"/>
              </a:ext>
            </a:extLst>
          </p:cNvPr>
          <p:cNvPicPr>
            <a:picLocks noChangeAspect="1"/>
          </p:cNvPicPr>
          <p:nvPr/>
        </p:nvPicPr>
        <p:blipFill>
          <a:blip r:embed="rId3"/>
          <a:stretch>
            <a:fillRect/>
          </a:stretch>
        </p:blipFill>
        <p:spPr>
          <a:xfrm>
            <a:off x="1636005" y="1524530"/>
            <a:ext cx="5425807" cy="361897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References </a:t>
            </a:r>
            <a:endParaRPr/>
          </a:p>
        </p:txBody>
      </p:sp>
      <p:sp>
        <p:nvSpPr>
          <p:cNvPr id="163" name="Google Shape;163;p21"/>
          <p:cNvSpPr txBox="1">
            <a:spLocks noGrp="1"/>
          </p:cNvSpPr>
          <p:nvPr>
            <p:ph type="body" idx="1"/>
          </p:nvPr>
        </p:nvSpPr>
        <p:spPr>
          <a:xfrm>
            <a:off x="236100" y="1135625"/>
            <a:ext cx="8596200" cy="3577800"/>
          </a:xfrm>
          <a:prstGeom prst="rect">
            <a:avLst/>
          </a:prstGeom>
        </p:spPr>
        <p:txBody>
          <a:bodyPr spcFirstLastPara="1" wrap="square" lIns="91425" tIns="91425" rIns="91425" bIns="91425" anchor="t" anchorCtr="0">
            <a:normAutofit fontScale="25000" lnSpcReduction="20000"/>
          </a:bodyPr>
          <a:lstStyle/>
          <a:p>
            <a:pPr marL="457200" lvl="0" indent="0" algn="l" rtl="0">
              <a:lnSpc>
                <a:spcPct val="100000"/>
              </a:lnSpc>
              <a:spcBef>
                <a:spcPts val="0"/>
              </a:spcBef>
              <a:spcAft>
                <a:spcPts val="0"/>
              </a:spcAft>
              <a:buNone/>
            </a:pPr>
            <a:endParaRPr sz="1150">
              <a:solidFill>
                <a:schemeClr val="dk1"/>
              </a:solidFill>
              <a:latin typeface="Calibri"/>
              <a:ea typeface="Calibri"/>
              <a:cs typeface="Calibri"/>
              <a:sym typeface="Calibri"/>
            </a:endParaRPr>
          </a:p>
          <a:p>
            <a:pPr marL="457200" lvl="0" indent="0" algn="l" rtl="0">
              <a:lnSpc>
                <a:spcPct val="100000"/>
              </a:lnSpc>
              <a:spcBef>
                <a:spcPts val="0"/>
              </a:spcBef>
              <a:spcAft>
                <a:spcPts val="0"/>
              </a:spcAft>
              <a:buNone/>
            </a:pPr>
            <a:endParaRPr sz="1150">
              <a:solidFill>
                <a:schemeClr val="dk1"/>
              </a:solidFill>
              <a:latin typeface="Calibri"/>
              <a:ea typeface="Calibri"/>
              <a:cs typeface="Calibri"/>
              <a:sym typeface="Calibri"/>
            </a:endParaRPr>
          </a:p>
          <a:p>
            <a:pPr marL="0" lvl="0" indent="0" algn="l" rtl="0">
              <a:spcBef>
                <a:spcPts val="1200"/>
              </a:spcBef>
              <a:spcAft>
                <a:spcPts val="0"/>
              </a:spcAft>
              <a:buNone/>
            </a:pPr>
            <a:r>
              <a:rPr lang="en" sz="5094">
                <a:solidFill>
                  <a:schemeClr val="dk1"/>
                </a:solidFill>
              </a:rPr>
              <a:t>Hsu, T.-P., &amp; Wen, K.-L. (2022). Using multinomial regression to explore the spatial factors affecting left-turn oncoming accidents involving motorcycles. </a:t>
            </a:r>
            <a:r>
              <a:rPr lang="en" sz="5094" i="1">
                <a:solidFill>
                  <a:schemeClr val="dk1"/>
                </a:solidFill>
              </a:rPr>
              <a:t>Traffic Injury Prevention, 23</a:t>
            </a:r>
            <a:r>
              <a:rPr lang="en" sz="5094">
                <a:solidFill>
                  <a:schemeClr val="dk1"/>
                </a:solidFill>
              </a:rPr>
              <a:t>(1), 46–50.</a:t>
            </a:r>
            <a:r>
              <a:rPr lang="en" sz="5094">
                <a:solidFill>
                  <a:schemeClr val="dk1"/>
                </a:solidFill>
                <a:uFill>
                  <a:noFill/>
                </a:uFill>
                <a:hlinkClick r:id="rId3">
                  <a:extLst>
                    <a:ext uri="{A12FA001-AC4F-418D-AE19-62706E023703}">
                      <ahyp:hlinkClr xmlns:ahyp="http://schemas.microsoft.com/office/drawing/2018/hyperlinkcolor" val="tx"/>
                    </a:ext>
                  </a:extLst>
                </a:hlinkClick>
              </a:rPr>
              <a:t> </a:t>
            </a:r>
            <a:r>
              <a:rPr lang="en" sz="5094" u="sng">
                <a:solidFill>
                  <a:schemeClr val="hlink"/>
                </a:solidFill>
                <a:hlinkClick r:id="rId3"/>
              </a:rPr>
              <a:t>https://doi.org/10.1080/15389588.2021.2009115</a:t>
            </a:r>
            <a:endParaRPr sz="5094" u="sng">
              <a:solidFill>
                <a:schemeClr val="hlink"/>
              </a:solidFill>
            </a:endParaRPr>
          </a:p>
          <a:p>
            <a:pPr marL="0" lvl="0" indent="0" algn="l" rtl="0">
              <a:spcBef>
                <a:spcPts val="1200"/>
              </a:spcBef>
              <a:spcAft>
                <a:spcPts val="0"/>
              </a:spcAft>
              <a:buNone/>
            </a:pPr>
            <a:r>
              <a:rPr lang="en" sz="5094">
                <a:solidFill>
                  <a:schemeClr val="dk1"/>
                </a:solidFill>
              </a:rPr>
              <a:t>Kraus, J. F., Franti, C. E., Johnson, S. L., &amp; Riggins, R. S. (1976). Trends in deaths due to motorcycle crashes and risk factors in injury collisions. </a:t>
            </a:r>
            <a:r>
              <a:rPr lang="en" sz="5094" i="1">
                <a:solidFill>
                  <a:schemeClr val="dk1"/>
                </a:solidFill>
              </a:rPr>
              <a:t>Accident Analysis &amp; Prevention, 8</a:t>
            </a:r>
            <a:r>
              <a:rPr lang="en" sz="5094">
                <a:solidFill>
                  <a:schemeClr val="dk1"/>
                </a:solidFill>
              </a:rPr>
              <a:t>(4), 247–255.</a:t>
            </a:r>
            <a:r>
              <a:rPr lang="en" sz="5094">
                <a:solidFill>
                  <a:schemeClr val="dk1"/>
                </a:solidFill>
                <a:uFill>
                  <a:noFill/>
                </a:uFill>
                <a:hlinkClick r:id="rId4">
                  <a:extLst>
                    <a:ext uri="{A12FA001-AC4F-418D-AE19-62706E023703}">
                      <ahyp:hlinkClr xmlns:ahyp="http://schemas.microsoft.com/office/drawing/2018/hyperlinkcolor" val="tx"/>
                    </a:ext>
                  </a:extLst>
                </a:hlinkClick>
              </a:rPr>
              <a:t> </a:t>
            </a:r>
            <a:r>
              <a:rPr lang="en" sz="5094" u="sng">
                <a:solidFill>
                  <a:schemeClr val="hlink"/>
                </a:solidFill>
                <a:hlinkClick r:id="rId4"/>
              </a:rPr>
              <a:t>https://doi.org/10.1016/0001-4575(76)90010-5</a:t>
            </a:r>
            <a:endParaRPr sz="5094" u="sng">
              <a:solidFill>
                <a:schemeClr val="hlink"/>
              </a:solidFill>
            </a:endParaRPr>
          </a:p>
          <a:p>
            <a:pPr marL="0" lvl="0" indent="0" algn="l" rtl="0">
              <a:spcBef>
                <a:spcPts val="1200"/>
              </a:spcBef>
              <a:spcAft>
                <a:spcPts val="0"/>
              </a:spcAft>
              <a:buNone/>
            </a:pPr>
            <a:r>
              <a:rPr lang="en" sz="5094">
                <a:solidFill>
                  <a:schemeClr val="dk1"/>
                </a:solidFill>
              </a:rPr>
              <a:t>Motorcycle safety. (2023). </a:t>
            </a:r>
            <a:r>
              <a:rPr lang="en" sz="5094" i="1">
                <a:solidFill>
                  <a:schemeClr val="dk1"/>
                </a:solidFill>
              </a:rPr>
              <a:t>California Office of Traffic Safety</a:t>
            </a:r>
            <a:r>
              <a:rPr lang="en" sz="5094">
                <a:solidFill>
                  <a:schemeClr val="dk1"/>
                </a:solidFill>
              </a:rPr>
              <a:t>.</a:t>
            </a:r>
            <a:r>
              <a:rPr lang="en" sz="5094">
                <a:solidFill>
                  <a:schemeClr val="dk1"/>
                </a:solidFill>
                <a:uFill>
                  <a:noFill/>
                </a:uFill>
                <a:hlinkClick r:id="rId5">
                  <a:extLst>
                    <a:ext uri="{A12FA001-AC4F-418D-AE19-62706E023703}">
                      <ahyp:hlinkClr xmlns:ahyp="http://schemas.microsoft.com/office/drawing/2018/hyperlinkcolor" val="tx"/>
                    </a:ext>
                  </a:extLst>
                </a:hlinkClick>
              </a:rPr>
              <a:t> </a:t>
            </a:r>
            <a:r>
              <a:rPr lang="en" sz="5094" u="sng">
                <a:solidFill>
                  <a:schemeClr val="hlink"/>
                </a:solidFill>
                <a:hlinkClick r:id="rId5"/>
              </a:rPr>
              <a:t>https://www.ots.ca.gov/grants/motorcycle-safety/</a:t>
            </a:r>
            <a:endParaRPr sz="5094" u="sng">
              <a:solidFill>
                <a:schemeClr val="hlink"/>
              </a:solidFill>
            </a:endParaRPr>
          </a:p>
          <a:p>
            <a:pPr marL="0" lvl="0" indent="0" algn="l" rtl="0">
              <a:spcBef>
                <a:spcPts val="1200"/>
              </a:spcBef>
              <a:spcAft>
                <a:spcPts val="0"/>
              </a:spcAft>
              <a:buNone/>
            </a:pPr>
            <a:r>
              <a:rPr lang="en" sz="5094">
                <a:solidFill>
                  <a:schemeClr val="dk1"/>
                </a:solidFill>
              </a:rPr>
              <a:t>Safe Transportation Research and Education Center. (2025). </a:t>
            </a:r>
            <a:r>
              <a:rPr lang="en" sz="5094" i="1">
                <a:solidFill>
                  <a:schemeClr val="dk1"/>
                </a:solidFill>
              </a:rPr>
              <a:t>2025 SafeTREC traffic safety facts: Motorcycle safety</a:t>
            </a:r>
            <a:r>
              <a:rPr lang="en" sz="5094">
                <a:solidFill>
                  <a:schemeClr val="dk1"/>
                </a:solidFill>
              </a:rPr>
              <a:t>. University of California, Berkeley.</a:t>
            </a:r>
            <a:r>
              <a:rPr lang="en" sz="5094">
                <a:solidFill>
                  <a:schemeClr val="dk1"/>
                </a:solidFill>
                <a:uFill>
                  <a:noFill/>
                </a:uFill>
                <a:hlinkClick r:id="rId6">
                  <a:extLst>
                    <a:ext uri="{A12FA001-AC4F-418D-AE19-62706E023703}">
                      <ahyp:hlinkClr xmlns:ahyp="http://schemas.microsoft.com/office/drawing/2018/hyperlinkcolor" val="tx"/>
                    </a:ext>
                  </a:extLst>
                </a:hlinkClick>
              </a:rPr>
              <a:t> </a:t>
            </a:r>
            <a:r>
              <a:rPr lang="en" sz="5094" u="sng">
                <a:solidFill>
                  <a:schemeClr val="hlink"/>
                </a:solidFill>
                <a:hlinkClick r:id="rId6"/>
              </a:rPr>
              <a:t>https://safetrec.berkeley.edu/2025-safetrec-traffic-safety-facts-motorcycle-safety</a:t>
            </a:r>
            <a:endParaRPr sz="5094" u="sng">
              <a:solidFill>
                <a:schemeClr val="hlink"/>
              </a:solidFill>
            </a:endParaRPr>
          </a:p>
          <a:p>
            <a:pPr marL="0" lvl="0" indent="0" algn="l" rtl="0">
              <a:spcBef>
                <a:spcPts val="1200"/>
              </a:spcBef>
              <a:spcAft>
                <a:spcPts val="0"/>
              </a:spcAft>
              <a:buNone/>
            </a:pPr>
            <a:r>
              <a:rPr lang="en" sz="5094">
                <a:solidFill>
                  <a:schemeClr val="dk1"/>
                </a:solidFill>
              </a:rPr>
              <a:t>Wei, T., Zhu, T., Lin, M., &amp; Liu, H. (2024). Predicting and factor analysis of rider injury severity in two-wheeled motorcycle and vehicle crash accidents based on an interpretable machine learning framework. </a:t>
            </a:r>
            <a:r>
              <a:rPr lang="en" sz="5094" i="1">
                <a:solidFill>
                  <a:schemeClr val="dk1"/>
                </a:solidFill>
              </a:rPr>
              <a:t>Traffic Injury Prevention, 25</a:t>
            </a:r>
            <a:r>
              <a:rPr lang="en" sz="5094">
                <a:solidFill>
                  <a:schemeClr val="dk1"/>
                </a:solidFill>
              </a:rPr>
              <a:t>(2), 194–201.</a:t>
            </a:r>
            <a:r>
              <a:rPr lang="en" sz="5094">
                <a:solidFill>
                  <a:schemeClr val="dk1"/>
                </a:solidFill>
                <a:uFill>
                  <a:noFill/>
                </a:uFill>
                <a:hlinkClick r:id="rId7">
                  <a:extLst>
                    <a:ext uri="{A12FA001-AC4F-418D-AE19-62706E023703}">
                      <ahyp:hlinkClr xmlns:ahyp="http://schemas.microsoft.com/office/drawing/2018/hyperlinkcolor" val="tx"/>
                    </a:ext>
                  </a:extLst>
                </a:hlinkClick>
              </a:rPr>
              <a:t> </a:t>
            </a:r>
            <a:r>
              <a:rPr lang="en" sz="5094" u="sng">
                <a:solidFill>
                  <a:schemeClr val="hlink"/>
                </a:solidFill>
                <a:hlinkClick r:id="rId7"/>
              </a:rPr>
              <a:t>https://doi.org/10.1080/15389588.2023.2284111</a:t>
            </a:r>
            <a:endParaRPr sz="5094" u="sng">
              <a:solidFill>
                <a:schemeClr val="hlink"/>
              </a:solidFill>
            </a:endParaRPr>
          </a:p>
          <a:p>
            <a:pPr marL="457200" lvl="0" indent="-457200" algn="l" rtl="0">
              <a:lnSpc>
                <a:spcPct val="200000"/>
              </a:lnSpc>
              <a:spcBef>
                <a:spcPts val="1200"/>
              </a:spcBef>
              <a:spcAft>
                <a:spcPts val="0"/>
              </a:spcAft>
              <a:buNone/>
            </a:pPr>
            <a:endParaRPr sz="1100">
              <a:solidFill>
                <a:schemeClr val="dk1"/>
              </a:solidFill>
            </a:endParaRPr>
          </a:p>
          <a:p>
            <a:pPr marL="0" lvl="0" indent="0" algn="l" rtl="0">
              <a:lnSpc>
                <a:spcPct val="200000"/>
              </a:lnSpc>
              <a:spcBef>
                <a:spcPts val="0"/>
              </a:spcBef>
              <a:spcAft>
                <a:spcPts val="0"/>
              </a:spcAft>
              <a:buNone/>
            </a:pPr>
            <a:endParaRPr sz="1200">
              <a:solidFill>
                <a:schemeClr val="dk1"/>
              </a:solidFill>
            </a:endParaRPr>
          </a:p>
          <a:p>
            <a:pPr marL="0" lvl="0" indent="-457200" algn="l" rtl="0">
              <a:lnSpc>
                <a:spcPct val="200000"/>
              </a:lnSpc>
              <a:spcBef>
                <a:spcPts val="0"/>
              </a:spcBef>
              <a:spcAft>
                <a:spcPts val="0"/>
              </a:spcAft>
              <a:buNone/>
            </a:pPr>
            <a:r>
              <a:rPr lang="en" sz="1200" i="1">
                <a:solidFill>
                  <a:schemeClr val="dk1"/>
                </a:solidFill>
              </a:rPr>
              <a:t>                 </a:t>
            </a:r>
            <a:endParaRPr sz="1200">
              <a:solidFill>
                <a:schemeClr val="dk1"/>
              </a:solidFill>
            </a:endParaRPr>
          </a:p>
          <a:p>
            <a:pPr marL="0" lvl="0" indent="0" algn="l" rtl="0">
              <a:lnSpc>
                <a:spcPct val="200000"/>
              </a:lnSpc>
              <a:spcBef>
                <a:spcPts val="0"/>
              </a:spcBef>
              <a:spcAft>
                <a:spcPts val="0"/>
              </a:spcAft>
              <a:buClr>
                <a:schemeClr val="dk1"/>
              </a:buClr>
              <a:buSzPct val="91666"/>
              <a:buFont typeface="Arial"/>
              <a:buNone/>
            </a:pPr>
            <a:endParaRPr sz="1200">
              <a:solidFill>
                <a:schemeClr val="dk1"/>
              </a:solidFill>
            </a:endParaRPr>
          </a:p>
          <a:p>
            <a:pPr marL="0" lvl="0" indent="-457200" algn="l" rtl="0">
              <a:lnSpc>
                <a:spcPct val="200000"/>
              </a:lnSpc>
              <a:spcBef>
                <a:spcPts val="0"/>
              </a:spcBef>
              <a:spcAft>
                <a:spcPts val="0"/>
              </a:spcAft>
              <a:buNone/>
            </a:pPr>
            <a:endParaRPr sz="1200">
              <a:solidFill>
                <a:schemeClr val="dk1"/>
              </a:solidFill>
            </a:endParaRPr>
          </a:p>
          <a:p>
            <a:pPr marL="381000" lvl="0" indent="-381000" algn="l" rtl="0">
              <a:spcBef>
                <a:spcPts val="1200"/>
              </a:spcBef>
              <a:spcAft>
                <a:spcPts val="0"/>
              </a:spcAft>
              <a:buNone/>
            </a:pPr>
            <a:endParaRPr sz="1100">
              <a:solidFill>
                <a:srgbClr val="000000"/>
              </a:solidFill>
              <a:highlight>
                <a:schemeClr val="dk1"/>
              </a:highlight>
              <a:latin typeface="Arial"/>
              <a:ea typeface="Arial"/>
              <a:cs typeface="Arial"/>
              <a:sym typeface="Arial"/>
            </a:endParaRPr>
          </a:p>
          <a:p>
            <a:pPr marL="457200" lvl="0" indent="0" algn="l" rtl="0">
              <a:lnSpc>
                <a:spcPct val="100000"/>
              </a:lnSpc>
              <a:spcBef>
                <a:spcPts val="1200"/>
              </a:spcBef>
              <a:spcAft>
                <a:spcPts val="0"/>
              </a:spcAft>
              <a:buNone/>
            </a:pPr>
            <a:endParaRPr sz="1150">
              <a:solidFill>
                <a:schemeClr val="dk1"/>
              </a:solidFill>
              <a:latin typeface="Calibri"/>
              <a:ea typeface="Calibri"/>
              <a:cs typeface="Calibri"/>
              <a:sym typeface="Calibri"/>
            </a:endParaRPr>
          </a:p>
          <a:p>
            <a:pPr marL="0" lvl="0" indent="0" algn="l" rtl="0">
              <a:spcBef>
                <a:spcPts val="1200"/>
              </a:spcBef>
              <a:spcAft>
                <a:spcPts val="0"/>
              </a:spcAft>
              <a:buNone/>
            </a:pPr>
            <a:r>
              <a:rPr lang="en" sz="1100">
                <a:solidFill>
                  <a:srgbClr val="000000"/>
                </a:solidFill>
                <a:latin typeface="Calibri"/>
                <a:ea typeface="Calibri"/>
                <a:cs typeface="Calibri"/>
                <a:sym typeface="Calibri"/>
              </a:rPr>
              <a:t>‌</a:t>
            </a:r>
            <a:endParaRPr sz="1100">
              <a:solidFill>
                <a:srgbClr val="000000"/>
              </a:solidFill>
              <a:latin typeface="Calibri"/>
              <a:ea typeface="Calibri"/>
              <a:cs typeface="Calibri"/>
              <a:sym typeface="Calibri"/>
            </a:endParaRPr>
          </a:p>
          <a:p>
            <a:pPr marL="0" lvl="0" indent="0" algn="l" rtl="0">
              <a:spcBef>
                <a:spcPts val="1200"/>
              </a:spcBef>
              <a:spcAft>
                <a:spcPts val="1200"/>
              </a:spcAft>
              <a:buNone/>
            </a:pP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59</TotalTime>
  <Words>1373</Words>
  <Application>Microsoft Office PowerPoint</Application>
  <PresentationFormat>On-screen Show (16:9)</PresentationFormat>
  <Paragraphs>61</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Oswald</vt:lpstr>
      <vt:lpstr>Roboto</vt:lpstr>
      <vt:lpstr>Calibri</vt:lpstr>
      <vt:lpstr>Arial</vt:lpstr>
      <vt:lpstr>Simple Light</vt:lpstr>
      <vt:lpstr>Predicting Motorcycle Accident Risk in Southern California</vt:lpstr>
      <vt:lpstr>Overview of the Presentation</vt:lpstr>
      <vt:lpstr>Motorcycle crashes in California frequently result in serious injury or fatal outcomes.</vt:lpstr>
      <vt:lpstr>1) Which observable crash conditions are associated with severe or fatal motorcycle injuries in California? 2) How does motorcycle injury severity vary across time, location, and roadway context?</vt:lpstr>
      <vt:lpstr>Prior research demonstrates that crash severity is influenced by multiple interacting factors and can be effectively studied using statistical and machine learning models. </vt:lpstr>
      <vt:lpstr>Publicly available California crash data provide sufficient detail to support prediction of motorcycle crash severity.</vt:lpstr>
      <vt:lpstr>The dataset enables a structured analytical pipeline integrating exploratory analysis, predictive modeling, and spatial risk assessment to predict motorcycle crash injury severity.</vt:lpstr>
      <vt:lpstr>Motorcycle crash injury severity remains a serious and ongoing public safety concern across Southern California communities.</vt:lpstr>
      <vt:lpstr>References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Jeremiah Snipes</cp:lastModifiedBy>
  <cp:revision>18</cp:revision>
  <dcterms:modified xsi:type="dcterms:W3CDTF">2026-01-12T02:37:33Z</dcterms:modified>
</cp:coreProperties>
</file>